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9" r:id="rId3"/>
    <p:sldId id="257" r:id="rId4"/>
    <p:sldId id="258" r:id="rId5"/>
    <p:sldId id="260" r:id="rId6"/>
    <p:sldId id="261" r:id="rId7"/>
    <p:sldId id="262" r:id="rId8"/>
    <p:sldId id="263" r:id="rId9"/>
    <p:sldId id="265" r:id="rId10"/>
    <p:sldId id="268" r:id="rId11"/>
    <p:sldId id="264" r:id="rId12"/>
    <p:sldId id="269" r:id="rId13"/>
    <p:sldId id="266" r:id="rId14"/>
    <p:sldId id="267" r:id="rId1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p:restoredTop sz="94658"/>
  </p:normalViewPr>
  <p:slideViewPr>
    <p:cSldViewPr snapToGrid="0" snapToObjects="1">
      <p:cViewPr varScale="1">
        <p:scale>
          <a:sx n="120" d="100"/>
          <a:sy n="120" d="100"/>
        </p:scale>
        <p:origin x="28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7FE7BE-8E84-087D-0B7B-04DD200DF4B6}"/>
              </a:ext>
            </a:extLst>
          </p:cNvPr>
          <p:cNvSpPr>
            <a:spLocks noGrp="1"/>
          </p:cNvSpPr>
          <p:nvPr>
            <p:ph type="ctrTitle"/>
          </p:nvPr>
        </p:nvSpPr>
        <p:spPr>
          <a:xfrm>
            <a:off x="1524000" y="1122363"/>
            <a:ext cx="9144000" cy="2387600"/>
          </a:xfrm>
        </p:spPr>
        <p:txBody>
          <a:bodyPr anchor="b"/>
          <a:lstStyle>
            <a:lvl1pPr algn="ctr">
              <a:defRPr sz="66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87AF3849-CD0B-6829-FE1F-3BB795C4CBEC}"/>
              </a:ext>
            </a:extLst>
          </p:cNvPr>
          <p:cNvSpPr>
            <a:spLocks noGrp="1"/>
          </p:cNvSpPr>
          <p:nvPr>
            <p:ph type="subTitle" idx="1"/>
          </p:nvPr>
        </p:nvSpPr>
        <p:spPr>
          <a:xfrm>
            <a:off x="1524000" y="3602038"/>
            <a:ext cx="9144000" cy="1655762"/>
          </a:xfrm>
        </p:spPr>
        <p:txBody>
          <a:bodyPr>
            <a:normAutofit/>
          </a:bodyPr>
          <a:lstStyle>
            <a:lvl1pPr marL="0" indent="0" algn="ctr">
              <a:buNone/>
              <a:defRPr sz="4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6C21760-73A0-DDE5-6AA6-E43798D8144E}"/>
              </a:ext>
            </a:extLst>
          </p:cNvPr>
          <p:cNvSpPr>
            <a:spLocks noGrp="1"/>
          </p:cNvSpPr>
          <p:nvPr>
            <p:ph type="dt" sz="half" idx="10"/>
          </p:nvPr>
        </p:nvSpPr>
        <p:spPr/>
        <p:txBody>
          <a:bodyPr/>
          <a:lstStyle/>
          <a:p>
            <a:fld id="{F05FD102-564D-EA49-83F9-4E7281682706}" type="datetimeFigureOut">
              <a:rPr kumimoji="1" lang="ja-JP" altLang="en-US" smtClean="0"/>
              <a:t>2026/6/10</a:t>
            </a:fld>
            <a:endParaRPr kumimoji="1" lang="ja-JP" altLang="en-US"/>
          </a:p>
        </p:txBody>
      </p:sp>
      <p:sp>
        <p:nvSpPr>
          <p:cNvPr id="5" name="フッター プレースホルダー 4">
            <a:extLst>
              <a:ext uri="{FF2B5EF4-FFF2-40B4-BE49-F238E27FC236}">
                <a16:creationId xmlns:a16="http://schemas.microsoft.com/office/drawing/2014/main" id="{65256565-E81C-F15B-DCD6-30C1B7A2B14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460E9F7-E9ED-5200-D4F0-F4F813D2AD14}"/>
              </a:ext>
            </a:extLst>
          </p:cNvPr>
          <p:cNvSpPr>
            <a:spLocks noGrp="1"/>
          </p:cNvSpPr>
          <p:nvPr>
            <p:ph type="sldNum" sz="quarter" idx="12"/>
          </p:nvPr>
        </p:nvSpPr>
        <p:spPr/>
        <p:txBody>
          <a:bodyPr/>
          <a:lstStyle/>
          <a:p>
            <a:fld id="{74E5C2EA-A201-0F41-BE6C-96A0CC88D6B3}" type="slidenum">
              <a:rPr kumimoji="1" lang="ja-JP" altLang="en-US" smtClean="0"/>
              <a:t>‹#›</a:t>
            </a:fld>
            <a:endParaRPr kumimoji="1" lang="ja-JP" altLang="en-US"/>
          </a:p>
        </p:txBody>
      </p:sp>
    </p:spTree>
    <p:extLst>
      <p:ext uri="{BB962C8B-B14F-4D97-AF65-F5344CB8AC3E}">
        <p14:creationId xmlns:p14="http://schemas.microsoft.com/office/powerpoint/2010/main" val="3972043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CD9D67-D018-83E5-EF92-2C5A320F367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B69599B-CC0F-5742-F088-AAF647FFD092}"/>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A373562-B03F-6F44-A740-61446E458800}"/>
              </a:ext>
            </a:extLst>
          </p:cNvPr>
          <p:cNvSpPr>
            <a:spLocks noGrp="1"/>
          </p:cNvSpPr>
          <p:nvPr>
            <p:ph type="dt" sz="half" idx="10"/>
          </p:nvPr>
        </p:nvSpPr>
        <p:spPr/>
        <p:txBody>
          <a:bodyPr/>
          <a:lstStyle/>
          <a:p>
            <a:fld id="{F05FD102-564D-EA49-83F9-4E7281682706}" type="datetimeFigureOut">
              <a:rPr kumimoji="1" lang="ja-JP" altLang="en-US" smtClean="0"/>
              <a:t>2026/6/10</a:t>
            </a:fld>
            <a:endParaRPr kumimoji="1" lang="ja-JP" altLang="en-US"/>
          </a:p>
        </p:txBody>
      </p:sp>
      <p:sp>
        <p:nvSpPr>
          <p:cNvPr id="5" name="フッター プレースホルダー 4">
            <a:extLst>
              <a:ext uri="{FF2B5EF4-FFF2-40B4-BE49-F238E27FC236}">
                <a16:creationId xmlns:a16="http://schemas.microsoft.com/office/drawing/2014/main" id="{EA8D70D3-6D5E-09B1-F108-77C67FDABC8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7C7A089-2C02-E725-44A9-748D5948838B}"/>
              </a:ext>
            </a:extLst>
          </p:cNvPr>
          <p:cNvSpPr>
            <a:spLocks noGrp="1"/>
          </p:cNvSpPr>
          <p:nvPr>
            <p:ph type="sldNum" sz="quarter" idx="12"/>
          </p:nvPr>
        </p:nvSpPr>
        <p:spPr/>
        <p:txBody>
          <a:bodyPr/>
          <a:lstStyle/>
          <a:p>
            <a:fld id="{74E5C2EA-A201-0F41-BE6C-96A0CC88D6B3}" type="slidenum">
              <a:rPr kumimoji="1" lang="ja-JP" altLang="en-US" smtClean="0"/>
              <a:t>‹#›</a:t>
            </a:fld>
            <a:endParaRPr kumimoji="1" lang="ja-JP" altLang="en-US"/>
          </a:p>
        </p:txBody>
      </p:sp>
    </p:spTree>
    <p:extLst>
      <p:ext uri="{BB962C8B-B14F-4D97-AF65-F5344CB8AC3E}">
        <p14:creationId xmlns:p14="http://schemas.microsoft.com/office/powerpoint/2010/main" val="1337497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0D4C438-5937-2B4F-2EB2-3D7CD8F59FF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42374D2-9405-296E-6183-C9EB4765A1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3C5DC3C9-04F5-92C7-62EA-C5CF6370C1E6}"/>
              </a:ext>
            </a:extLst>
          </p:cNvPr>
          <p:cNvSpPr>
            <a:spLocks noGrp="1"/>
          </p:cNvSpPr>
          <p:nvPr>
            <p:ph type="dt" sz="half" idx="10"/>
          </p:nvPr>
        </p:nvSpPr>
        <p:spPr/>
        <p:txBody>
          <a:bodyPr/>
          <a:lstStyle/>
          <a:p>
            <a:fld id="{F05FD102-564D-EA49-83F9-4E7281682706}" type="datetimeFigureOut">
              <a:rPr kumimoji="1" lang="ja-JP" altLang="en-US" smtClean="0"/>
              <a:t>2026/6/10</a:t>
            </a:fld>
            <a:endParaRPr kumimoji="1" lang="ja-JP" altLang="en-US"/>
          </a:p>
        </p:txBody>
      </p:sp>
      <p:sp>
        <p:nvSpPr>
          <p:cNvPr id="5" name="フッター プレースホルダー 4">
            <a:extLst>
              <a:ext uri="{FF2B5EF4-FFF2-40B4-BE49-F238E27FC236}">
                <a16:creationId xmlns:a16="http://schemas.microsoft.com/office/drawing/2014/main" id="{DF0BB171-C41F-5A00-ABD1-E187D6A8633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BE1253E-D21A-775F-27B5-342266CFC94E}"/>
              </a:ext>
            </a:extLst>
          </p:cNvPr>
          <p:cNvSpPr>
            <a:spLocks noGrp="1"/>
          </p:cNvSpPr>
          <p:nvPr>
            <p:ph type="sldNum" sz="quarter" idx="12"/>
          </p:nvPr>
        </p:nvSpPr>
        <p:spPr/>
        <p:txBody>
          <a:bodyPr/>
          <a:lstStyle/>
          <a:p>
            <a:fld id="{74E5C2EA-A201-0F41-BE6C-96A0CC88D6B3}" type="slidenum">
              <a:rPr kumimoji="1" lang="ja-JP" altLang="en-US" smtClean="0"/>
              <a:t>‹#›</a:t>
            </a:fld>
            <a:endParaRPr kumimoji="1" lang="ja-JP" altLang="en-US"/>
          </a:p>
        </p:txBody>
      </p:sp>
    </p:spTree>
    <p:extLst>
      <p:ext uri="{BB962C8B-B14F-4D97-AF65-F5344CB8AC3E}">
        <p14:creationId xmlns:p14="http://schemas.microsoft.com/office/powerpoint/2010/main" val="3906993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CDFC45-F2F6-CF86-6533-1810AC5457F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E3947CB-22A7-AF15-B05B-BFAB1D47F82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3EC34E3A-D190-DC67-A929-FE1BA86AC3B6}"/>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44D05BD-E909-9B30-8BB4-9CCF4A430A7C}"/>
              </a:ext>
            </a:extLst>
          </p:cNvPr>
          <p:cNvSpPr>
            <a:spLocks noGrp="1"/>
          </p:cNvSpPr>
          <p:nvPr>
            <p:ph type="dt" sz="half" idx="10"/>
          </p:nvPr>
        </p:nvSpPr>
        <p:spPr/>
        <p:txBody>
          <a:bodyPr/>
          <a:lstStyle/>
          <a:p>
            <a:fld id="{F05FD102-564D-EA49-83F9-4E7281682706}" type="datetimeFigureOut">
              <a:rPr kumimoji="1" lang="ja-JP" altLang="en-US" smtClean="0"/>
              <a:t>2026/6/10</a:t>
            </a:fld>
            <a:endParaRPr kumimoji="1" lang="ja-JP" altLang="en-US"/>
          </a:p>
        </p:txBody>
      </p:sp>
      <p:sp>
        <p:nvSpPr>
          <p:cNvPr id="6" name="フッター プレースホルダー 5">
            <a:extLst>
              <a:ext uri="{FF2B5EF4-FFF2-40B4-BE49-F238E27FC236}">
                <a16:creationId xmlns:a16="http://schemas.microsoft.com/office/drawing/2014/main" id="{046C825E-84E6-773D-0EC6-EA8F3AFAF1F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5AD6B63-1D2E-0DFE-B1CC-CAF2CB813307}"/>
              </a:ext>
            </a:extLst>
          </p:cNvPr>
          <p:cNvSpPr>
            <a:spLocks noGrp="1"/>
          </p:cNvSpPr>
          <p:nvPr>
            <p:ph type="sldNum" sz="quarter" idx="12"/>
          </p:nvPr>
        </p:nvSpPr>
        <p:spPr/>
        <p:txBody>
          <a:bodyPr/>
          <a:lstStyle/>
          <a:p>
            <a:fld id="{74E5C2EA-A201-0F41-BE6C-96A0CC88D6B3}" type="slidenum">
              <a:rPr kumimoji="1" lang="ja-JP" altLang="en-US" smtClean="0"/>
              <a:t>‹#›</a:t>
            </a:fld>
            <a:endParaRPr kumimoji="1" lang="ja-JP" altLang="en-US"/>
          </a:p>
        </p:txBody>
      </p:sp>
    </p:spTree>
    <p:extLst>
      <p:ext uri="{BB962C8B-B14F-4D97-AF65-F5344CB8AC3E}">
        <p14:creationId xmlns:p14="http://schemas.microsoft.com/office/powerpoint/2010/main" val="3650363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B570EC-FD52-B47F-A14E-77D130014AF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6CE891B-829D-0E53-10C4-48BB4A51DB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716443F-D643-4D6A-436A-EB92B1911EFA}"/>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5AF30654-9267-4FAF-B808-B3A55F1B46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3A7F998-96E5-D7AF-6517-1F5ABE0FE64C}"/>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EB5E7AF-88D3-97F9-947C-B87DBC4BCB89}"/>
              </a:ext>
            </a:extLst>
          </p:cNvPr>
          <p:cNvSpPr>
            <a:spLocks noGrp="1"/>
          </p:cNvSpPr>
          <p:nvPr>
            <p:ph type="dt" sz="half" idx="10"/>
          </p:nvPr>
        </p:nvSpPr>
        <p:spPr/>
        <p:txBody>
          <a:bodyPr/>
          <a:lstStyle/>
          <a:p>
            <a:fld id="{F05FD102-564D-EA49-83F9-4E7281682706}" type="datetimeFigureOut">
              <a:rPr kumimoji="1" lang="ja-JP" altLang="en-US" smtClean="0"/>
              <a:t>2026/6/10</a:t>
            </a:fld>
            <a:endParaRPr kumimoji="1" lang="ja-JP" altLang="en-US"/>
          </a:p>
        </p:txBody>
      </p:sp>
      <p:sp>
        <p:nvSpPr>
          <p:cNvPr id="8" name="フッター プレースホルダー 7">
            <a:extLst>
              <a:ext uri="{FF2B5EF4-FFF2-40B4-BE49-F238E27FC236}">
                <a16:creationId xmlns:a16="http://schemas.microsoft.com/office/drawing/2014/main" id="{0712B283-12E6-FFB2-EAA1-66ADF62321B2}"/>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6BEB5DE1-1C5C-ED97-827F-B2D25B34C1A0}"/>
              </a:ext>
            </a:extLst>
          </p:cNvPr>
          <p:cNvSpPr>
            <a:spLocks noGrp="1"/>
          </p:cNvSpPr>
          <p:nvPr>
            <p:ph type="sldNum" sz="quarter" idx="12"/>
          </p:nvPr>
        </p:nvSpPr>
        <p:spPr/>
        <p:txBody>
          <a:bodyPr/>
          <a:lstStyle/>
          <a:p>
            <a:fld id="{74E5C2EA-A201-0F41-BE6C-96A0CC88D6B3}" type="slidenum">
              <a:rPr kumimoji="1" lang="ja-JP" altLang="en-US" smtClean="0"/>
              <a:t>‹#›</a:t>
            </a:fld>
            <a:endParaRPr kumimoji="1" lang="ja-JP" altLang="en-US"/>
          </a:p>
        </p:txBody>
      </p:sp>
    </p:spTree>
    <p:extLst>
      <p:ext uri="{BB962C8B-B14F-4D97-AF65-F5344CB8AC3E}">
        <p14:creationId xmlns:p14="http://schemas.microsoft.com/office/powerpoint/2010/main" val="22689486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BC7A7F-D74C-24F0-AAD8-00DFFFC6570B}"/>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7B124424-E52A-17FF-4AFB-893ADCBD0BBE}"/>
              </a:ext>
            </a:extLst>
          </p:cNvPr>
          <p:cNvSpPr>
            <a:spLocks noGrp="1"/>
          </p:cNvSpPr>
          <p:nvPr>
            <p:ph type="dt" sz="half" idx="10"/>
          </p:nvPr>
        </p:nvSpPr>
        <p:spPr/>
        <p:txBody>
          <a:bodyPr/>
          <a:lstStyle/>
          <a:p>
            <a:fld id="{F05FD102-564D-EA49-83F9-4E7281682706}" type="datetimeFigureOut">
              <a:rPr kumimoji="1" lang="ja-JP" altLang="en-US" smtClean="0"/>
              <a:t>2026/6/10</a:t>
            </a:fld>
            <a:endParaRPr kumimoji="1" lang="ja-JP" altLang="en-US"/>
          </a:p>
        </p:txBody>
      </p:sp>
      <p:sp>
        <p:nvSpPr>
          <p:cNvPr id="4" name="フッター プレースホルダー 3">
            <a:extLst>
              <a:ext uri="{FF2B5EF4-FFF2-40B4-BE49-F238E27FC236}">
                <a16:creationId xmlns:a16="http://schemas.microsoft.com/office/drawing/2014/main" id="{DF16A06F-03AC-66A9-0CBD-C6EB6ED13B3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1BC2C51-2AA1-9C47-F58F-C12300164026}"/>
              </a:ext>
            </a:extLst>
          </p:cNvPr>
          <p:cNvSpPr>
            <a:spLocks noGrp="1"/>
          </p:cNvSpPr>
          <p:nvPr>
            <p:ph type="sldNum" sz="quarter" idx="12"/>
          </p:nvPr>
        </p:nvSpPr>
        <p:spPr/>
        <p:txBody>
          <a:bodyPr/>
          <a:lstStyle/>
          <a:p>
            <a:fld id="{74E5C2EA-A201-0F41-BE6C-96A0CC88D6B3}" type="slidenum">
              <a:rPr kumimoji="1" lang="ja-JP" altLang="en-US" smtClean="0"/>
              <a:t>‹#›</a:t>
            </a:fld>
            <a:endParaRPr kumimoji="1" lang="ja-JP" altLang="en-US"/>
          </a:p>
        </p:txBody>
      </p:sp>
    </p:spTree>
    <p:extLst>
      <p:ext uri="{BB962C8B-B14F-4D97-AF65-F5344CB8AC3E}">
        <p14:creationId xmlns:p14="http://schemas.microsoft.com/office/powerpoint/2010/main" val="3496152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DC245CF6-8AC5-49A6-4001-4F86889C9C6E}"/>
              </a:ext>
            </a:extLst>
          </p:cNvPr>
          <p:cNvSpPr>
            <a:spLocks noGrp="1"/>
          </p:cNvSpPr>
          <p:nvPr>
            <p:ph type="dt" sz="half" idx="10"/>
          </p:nvPr>
        </p:nvSpPr>
        <p:spPr/>
        <p:txBody>
          <a:bodyPr/>
          <a:lstStyle/>
          <a:p>
            <a:fld id="{F05FD102-564D-EA49-83F9-4E7281682706}" type="datetimeFigureOut">
              <a:rPr kumimoji="1" lang="ja-JP" altLang="en-US" smtClean="0"/>
              <a:t>2026/6/10</a:t>
            </a:fld>
            <a:endParaRPr kumimoji="1" lang="ja-JP" altLang="en-US"/>
          </a:p>
        </p:txBody>
      </p:sp>
      <p:sp>
        <p:nvSpPr>
          <p:cNvPr id="3" name="フッター プレースホルダー 2">
            <a:extLst>
              <a:ext uri="{FF2B5EF4-FFF2-40B4-BE49-F238E27FC236}">
                <a16:creationId xmlns:a16="http://schemas.microsoft.com/office/drawing/2014/main" id="{55AE75DF-A6B6-0B7F-1A07-ED97CD5BB7F3}"/>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B4F487D-F5EC-B224-0B2A-CBE64350AED5}"/>
              </a:ext>
            </a:extLst>
          </p:cNvPr>
          <p:cNvSpPr>
            <a:spLocks noGrp="1"/>
          </p:cNvSpPr>
          <p:nvPr>
            <p:ph type="sldNum" sz="quarter" idx="12"/>
          </p:nvPr>
        </p:nvSpPr>
        <p:spPr/>
        <p:txBody>
          <a:bodyPr/>
          <a:lstStyle/>
          <a:p>
            <a:fld id="{74E5C2EA-A201-0F41-BE6C-96A0CC88D6B3}" type="slidenum">
              <a:rPr kumimoji="1" lang="ja-JP" altLang="en-US" smtClean="0"/>
              <a:t>‹#›</a:t>
            </a:fld>
            <a:endParaRPr kumimoji="1" lang="ja-JP" altLang="en-US"/>
          </a:p>
        </p:txBody>
      </p:sp>
    </p:spTree>
    <p:extLst>
      <p:ext uri="{BB962C8B-B14F-4D97-AF65-F5344CB8AC3E}">
        <p14:creationId xmlns:p14="http://schemas.microsoft.com/office/powerpoint/2010/main" val="28224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BF684B-F88C-7C66-BD6F-0B83854B381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C7D2041-97CC-C3D8-FCB7-EB8C8E9AB3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321A0419-0F58-5A49-2277-B7D6B18DF3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41835F0-0F2D-418C-2F2C-A98280CDBD06}"/>
              </a:ext>
            </a:extLst>
          </p:cNvPr>
          <p:cNvSpPr>
            <a:spLocks noGrp="1"/>
          </p:cNvSpPr>
          <p:nvPr>
            <p:ph type="dt" sz="half" idx="10"/>
          </p:nvPr>
        </p:nvSpPr>
        <p:spPr/>
        <p:txBody>
          <a:bodyPr/>
          <a:lstStyle/>
          <a:p>
            <a:fld id="{F05FD102-564D-EA49-83F9-4E7281682706}" type="datetimeFigureOut">
              <a:rPr kumimoji="1" lang="ja-JP" altLang="en-US" smtClean="0"/>
              <a:t>2026/6/10</a:t>
            </a:fld>
            <a:endParaRPr kumimoji="1" lang="ja-JP" altLang="en-US"/>
          </a:p>
        </p:txBody>
      </p:sp>
      <p:sp>
        <p:nvSpPr>
          <p:cNvPr id="6" name="フッター プレースホルダー 5">
            <a:extLst>
              <a:ext uri="{FF2B5EF4-FFF2-40B4-BE49-F238E27FC236}">
                <a16:creationId xmlns:a16="http://schemas.microsoft.com/office/drawing/2014/main" id="{8A123655-0CEA-8B71-607D-D272BBF9BE4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D70B807-1B19-2E61-E3EC-A9FBA0890447}"/>
              </a:ext>
            </a:extLst>
          </p:cNvPr>
          <p:cNvSpPr>
            <a:spLocks noGrp="1"/>
          </p:cNvSpPr>
          <p:nvPr>
            <p:ph type="sldNum" sz="quarter" idx="12"/>
          </p:nvPr>
        </p:nvSpPr>
        <p:spPr/>
        <p:txBody>
          <a:bodyPr/>
          <a:lstStyle/>
          <a:p>
            <a:fld id="{74E5C2EA-A201-0F41-BE6C-96A0CC88D6B3}" type="slidenum">
              <a:rPr kumimoji="1" lang="ja-JP" altLang="en-US" smtClean="0"/>
              <a:t>‹#›</a:t>
            </a:fld>
            <a:endParaRPr kumimoji="1" lang="ja-JP" altLang="en-US"/>
          </a:p>
        </p:txBody>
      </p:sp>
    </p:spTree>
    <p:extLst>
      <p:ext uri="{BB962C8B-B14F-4D97-AF65-F5344CB8AC3E}">
        <p14:creationId xmlns:p14="http://schemas.microsoft.com/office/powerpoint/2010/main" val="2956728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8FF7DF-2F70-92AB-21C0-31464769E7C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D46C02F-A7E4-8817-1F4E-0ADF2EE969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51C3CA52-E658-760A-F63E-0131638BE2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E64D200-6169-F18C-0630-E11DE59C4ECB}"/>
              </a:ext>
            </a:extLst>
          </p:cNvPr>
          <p:cNvSpPr>
            <a:spLocks noGrp="1"/>
          </p:cNvSpPr>
          <p:nvPr>
            <p:ph type="dt" sz="half" idx="10"/>
          </p:nvPr>
        </p:nvSpPr>
        <p:spPr/>
        <p:txBody>
          <a:bodyPr/>
          <a:lstStyle/>
          <a:p>
            <a:fld id="{F05FD102-564D-EA49-83F9-4E7281682706}" type="datetimeFigureOut">
              <a:rPr kumimoji="1" lang="ja-JP" altLang="en-US" smtClean="0"/>
              <a:t>2026/6/10</a:t>
            </a:fld>
            <a:endParaRPr kumimoji="1" lang="ja-JP" altLang="en-US"/>
          </a:p>
        </p:txBody>
      </p:sp>
      <p:sp>
        <p:nvSpPr>
          <p:cNvPr id="6" name="フッター プレースホルダー 5">
            <a:extLst>
              <a:ext uri="{FF2B5EF4-FFF2-40B4-BE49-F238E27FC236}">
                <a16:creationId xmlns:a16="http://schemas.microsoft.com/office/drawing/2014/main" id="{287732EA-FC1C-5BAD-48CF-F61608915AB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21F0567-F7D0-859E-92DC-29CE0C0A7617}"/>
              </a:ext>
            </a:extLst>
          </p:cNvPr>
          <p:cNvSpPr>
            <a:spLocks noGrp="1"/>
          </p:cNvSpPr>
          <p:nvPr>
            <p:ph type="sldNum" sz="quarter" idx="12"/>
          </p:nvPr>
        </p:nvSpPr>
        <p:spPr/>
        <p:txBody>
          <a:bodyPr/>
          <a:lstStyle/>
          <a:p>
            <a:fld id="{74E5C2EA-A201-0F41-BE6C-96A0CC88D6B3}" type="slidenum">
              <a:rPr kumimoji="1" lang="ja-JP" altLang="en-US" smtClean="0"/>
              <a:t>‹#›</a:t>
            </a:fld>
            <a:endParaRPr kumimoji="1" lang="ja-JP" altLang="en-US"/>
          </a:p>
        </p:txBody>
      </p:sp>
    </p:spTree>
    <p:extLst>
      <p:ext uri="{BB962C8B-B14F-4D97-AF65-F5344CB8AC3E}">
        <p14:creationId xmlns:p14="http://schemas.microsoft.com/office/powerpoint/2010/main" val="1195523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3E6290-35CA-5BD7-5F6C-2172D634BFAB}"/>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598446D-EB67-FD9F-6AB7-EA211AC6F14E}"/>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A55741A-CA87-BDBF-778A-4666390A19C1}"/>
              </a:ext>
            </a:extLst>
          </p:cNvPr>
          <p:cNvSpPr>
            <a:spLocks noGrp="1"/>
          </p:cNvSpPr>
          <p:nvPr>
            <p:ph type="dt" sz="half" idx="10"/>
          </p:nvPr>
        </p:nvSpPr>
        <p:spPr/>
        <p:txBody>
          <a:bodyPr/>
          <a:lstStyle/>
          <a:p>
            <a:fld id="{F05FD102-564D-EA49-83F9-4E7281682706}" type="datetimeFigureOut">
              <a:rPr kumimoji="1" lang="ja-JP" altLang="en-US" smtClean="0"/>
              <a:t>2026/6/10</a:t>
            </a:fld>
            <a:endParaRPr kumimoji="1" lang="ja-JP" altLang="en-US"/>
          </a:p>
        </p:txBody>
      </p:sp>
      <p:sp>
        <p:nvSpPr>
          <p:cNvPr id="5" name="フッター プレースホルダー 4">
            <a:extLst>
              <a:ext uri="{FF2B5EF4-FFF2-40B4-BE49-F238E27FC236}">
                <a16:creationId xmlns:a16="http://schemas.microsoft.com/office/drawing/2014/main" id="{ECAFCABF-2475-D1C9-247C-0FB48CD958A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45BC43B-B58C-105F-79BC-4CB635C6E202}"/>
              </a:ext>
            </a:extLst>
          </p:cNvPr>
          <p:cNvSpPr>
            <a:spLocks noGrp="1"/>
          </p:cNvSpPr>
          <p:nvPr>
            <p:ph type="sldNum" sz="quarter" idx="12"/>
          </p:nvPr>
        </p:nvSpPr>
        <p:spPr/>
        <p:txBody>
          <a:bodyPr/>
          <a:lstStyle/>
          <a:p>
            <a:fld id="{74E5C2EA-A201-0F41-BE6C-96A0CC88D6B3}" type="slidenum">
              <a:rPr kumimoji="1" lang="ja-JP" altLang="en-US" smtClean="0"/>
              <a:t>‹#›</a:t>
            </a:fld>
            <a:endParaRPr kumimoji="1" lang="ja-JP" altLang="en-US"/>
          </a:p>
        </p:txBody>
      </p:sp>
    </p:spTree>
    <p:extLst>
      <p:ext uri="{BB962C8B-B14F-4D97-AF65-F5344CB8AC3E}">
        <p14:creationId xmlns:p14="http://schemas.microsoft.com/office/powerpoint/2010/main" val="40527295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86AA690-D34E-E6CC-CBAD-8B61DB5F2B1F}"/>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B156948-517F-860B-70F4-05A08ADC967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7A7BAAF-E298-27B4-F36E-5FB577268956}"/>
              </a:ext>
            </a:extLst>
          </p:cNvPr>
          <p:cNvSpPr>
            <a:spLocks noGrp="1"/>
          </p:cNvSpPr>
          <p:nvPr>
            <p:ph type="dt" sz="half" idx="10"/>
          </p:nvPr>
        </p:nvSpPr>
        <p:spPr/>
        <p:txBody>
          <a:bodyPr/>
          <a:lstStyle/>
          <a:p>
            <a:fld id="{F05FD102-564D-EA49-83F9-4E7281682706}" type="datetimeFigureOut">
              <a:rPr kumimoji="1" lang="ja-JP" altLang="en-US" smtClean="0"/>
              <a:t>2026/6/10</a:t>
            </a:fld>
            <a:endParaRPr kumimoji="1" lang="ja-JP" altLang="en-US"/>
          </a:p>
        </p:txBody>
      </p:sp>
      <p:sp>
        <p:nvSpPr>
          <p:cNvPr id="5" name="フッター プレースホルダー 4">
            <a:extLst>
              <a:ext uri="{FF2B5EF4-FFF2-40B4-BE49-F238E27FC236}">
                <a16:creationId xmlns:a16="http://schemas.microsoft.com/office/drawing/2014/main" id="{23E0D79F-D637-5C5A-926F-69E936DD7BE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1FDA132-4221-39BA-E513-79D70B1837D5}"/>
              </a:ext>
            </a:extLst>
          </p:cNvPr>
          <p:cNvSpPr>
            <a:spLocks noGrp="1"/>
          </p:cNvSpPr>
          <p:nvPr>
            <p:ph type="sldNum" sz="quarter" idx="12"/>
          </p:nvPr>
        </p:nvSpPr>
        <p:spPr/>
        <p:txBody>
          <a:bodyPr/>
          <a:lstStyle/>
          <a:p>
            <a:fld id="{74E5C2EA-A201-0F41-BE6C-96A0CC88D6B3}" type="slidenum">
              <a:rPr kumimoji="1" lang="ja-JP" altLang="en-US" smtClean="0"/>
              <a:t>‹#›</a:t>
            </a:fld>
            <a:endParaRPr kumimoji="1" lang="ja-JP" altLang="en-US"/>
          </a:p>
        </p:txBody>
      </p:sp>
    </p:spTree>
    <p:extLst>
      <p:ext uri="{BB962C8B-B14F-4D97-AF65-F5344CB8AC3E}">
        <p14:creationId xmlns:p14="http://schemas.microsoft.com/office/powerpoint/2010/main" val="2003263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EF98540-784E-8800-5DD5-A451EDD1A1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69EC8B5-2E68-F52A-BA13-6F7E46A9A7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p>
        </p:txBody>
      </p:sp>
      <p:sp>
        <p:nvSpPr>
          <p:cNvPr id="4" name="日付プレースホルダー 3">
            <a:extLst>
              <a:ext uri="{FF2B5EF4-FFF2-40B4-BE49-F238E27FC236}">
                <a16:creationId xmlns:a16="http://schemas.microsoft.com/office/drawing/2014/main" id="{3D1B30C9-50A0-4A72-24F1-171BAE3472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latin typeface="Meiryo" panose="020B0604030504040204" pitchFamily="34" charset="-128"/>
                <a:ea typeface="Meiryo" panose="020B0604030504040204" pitchFamily="34" charset="-128"/>
              </a:defRPr>
            </a:lvl1pPr>
          </a:lstStyle>
          <a:p>
            <a:fld id="{F05FD102-564D-EA49-83F9-4E7281682706}" type="datetimeFigureOut">
              <a:rPr lang="ja-JP" altLang="en-US" smtClean="0"/>
              <a:pPr/>
              <a:t>2026/6/10</a:t>
            </a:fld>
            <a:endParaRPr lang="ja-JP" altLang="en-US"/>
          </a:p>
        </p:txBody>
      </p:sp>
      <p:sp>
        <p:nvSpPr>
          <p:cNvPr id="5" name="フッター プレースホルダー 4">
            <a:extLst>
              <a:ext uri="{FF2B5EF4-FFF2-40B4-BE49-F238E27FC236}">
                <a16:creationId xmlns:a16="http://schemas.microsoft.com/office/drawing/2014/main" id="{81DD4E64-8C79-125B-73FB-BB9F8A1623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latin typeface="Meiryo" panose="020B0604030504040204" pitchFamily="34" charset="-128"/>
                <a:ea typeface="Meiryo" panose="020B0604030504040204" pitchFamily="34" charset="-128"/>
              </a:defRPr>
            </a:lvl1pPr>
          </a:lstStyle>
          <a:p>
            <a:endParaRPr lang="ja-JP" altLang="en-US"/>
          </a:p>
        </p:txBody>
      </p:sp>
      <p:sp>
        <p:nvSpPr>
          <p:cNvPr id="6" name="スライド番号プレースホルダー 5">
            <a:extLst>
              <a:ext uri="{FF2B5EF4-FFF2-40B4-BE49-F238E27FC236}">
                <a16:creationId xmlns:a16="http://schemas.microsoft.com/office/drawing/2014/main" id="{13BBF1A3-124C-CC0E-F21F-DD50418776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latin typeface="Meiryo" panose="020B0604030504040204" pitchFamily="34" charset="-128"/>
                <a:ea typeface="Meiryo" panose="020B0604030504040204" pitchFamily="34" charset="-128"/>
              </a:defRPr>
            </a:lvl1pPr>
          </a:lstStyle>
          <a:p>
            <a:fld id="{74E5C2EA-A201-0F41-BE6C-96A0CC88D6B3}" type="slidenum">
              <a:rPr lang="ja-JP" altLang="en-US" smtClean="0"/>
              <a:pPr/>
              <a:t>‹#›</a:t>
            </a:fld>
            <a:endParaRPr lang="ja-JP" altLang="en-US"/>
          </a:p>
        </p:txBody>
      </p:sp>
    </p:spTree>
    <p:extLst>
      <p:ext uri="{BB962C8B-B14F-4D97-AF65-F5344CB8AC3E}">
        <p14:creationId xmlns:p14="http://schemas.microsoft.com/office/powerpoint/2010/main" val="31321758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6600" kern="1200">
          <a:solidFill>
            <a:schemeClr val="tx1"/>
          </a:solidFill>
          <a:latin typeface="Meiryo" panose="020B0604030504040204" pitchFamily="34" charset="-128"/>
          <a:ea typeface="Meiryo" panose="020B0604030504040204" pitchFamily="34" charset="-128"/>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kumimoji="1" sz="4400" kern="1200">
          <a:solidFill>
            <a:schemeClr val="tx1"/>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4000" kern="1200">
          <a:solidFill>
            <a:schemeClr val="tx1"/>
          </a:solidFill>
          <a:latin typeface="Meiryo" panose="020B0604030504040204" pitchFamily="34" charset="-128"/>
          <a:ea typeface="Meiryo" panose="020B0604030504040204" pitchFamily="34"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3600" kern="1200">
          <a:solidFill>
            <a:schemeClr val="tx1"/>
          </a:solidFill>
          <a:latin typeface="Meiryo" panose="020B0604030504040204" pitchFamily="34" charset="-128"/>
          <a:ea typeface="Meiryo" panose="020B0604030504040204" pitchFamily="34"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3200" kern="1200">
          <a:solidFill>
            <a:schemeClr val="tx1"/>
          </a:solidFill>
          <a:latin typeface="Meiryo" panose="020B0604030504040204" pitchFamily="34" charset="-128"/>
          <a:ea typeface="Meiryo" panose="020B0604030504040204" pitchFamily="34"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2800" kern="1200">
          <a:solidFill>
            <a:schemeClr val="tx1"/>
          </a:solidFill>
          <a:latin typeface="Meiryo" panose="020B0604030504040204" pitchFamily="34" charset="-128"/>
          <a:ea typeface="Meiryo"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tamadalab/kyosan-eats-frontend" TargetMode="External"/><Relationship Id="rId2" Type="http://schemas.openxmlformats.org/officeDocument/2006/relationships/hyperlink" Target="https://kyosan-eats.vercel.app/" TargetMode="External"/><Relationship Id="rId1" Type="http://schemas.openxmlformats.org/officeDocument/2006/relationships/slideLayout" Target="../slideLayouts/slideLayout2.xml"/><Relationship Id="rId4" Type="http://schemas.openxmlformats.org/officeDocument/2006/relationships/hyperlink" Target="https://github.com/tamadalab/kyosan-eats-backend"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F16DD0-08A9-2341-FB69-45536EF2E286}"/>
              </a:ext>
            </a:extLst>
          </p:cNvPr>
          <p:cNvSpPr>
            <a:spLocks noGrp="1"/>
          </p:cNvSpPr>
          <p:nvPr>
            <p:ph type="ctrTitle"/>
          </p:nvPr>
        </p:nvSpPr>
        <p:spPr/>
        <p:txBody>
          <a:bodyPr/>
          <a:lstStyle/>
          <a:p>
            <a:r>
              <a:rPr kumimoji="1" lang="en-US" altLang="ja-JP" dirty="0"/>
              <a:t>Kyosan-eats</a:t>
            </a:r>
            <a:r>
              <a:rPr lang="en-US" altLang="ja-JP" dirty="0"/>
              <a:t> to</a:t>
            </a:r>
            <a:br>
              <a:rPr kumimoji="1" lang="en-US" altLang="ja-JP" dirty="0"/>
            </a:br>
            <a:r>
              <a:rPr kumimoji="1" lang="en-US" altLang="ja-JP" dirty="0"/>
              <a:t>Welfare-Time</a:t>
            </a:r>
            <a:endParaRPr kumimoji="1" lang="ja-JP" altLang="en-US"/>
          </a:p>
        </p:txBody>
      </p:sp>
      <p:sp>
        <p:nvSpPr>
          <p:cNvPr id="3" name="字幕 2">
            <a:extLst>
              <a:ext uri="{FF2B5EF4-FFF2-40B4-BE49-F238E27FC236}">
                <a16:creationId xmlns:a16="http://schemas.microsoft.com/office/drawing/2014/main" id="{1F8FCC06-508C-B515-CDF9-899F39B02C9D}"/>
              </a:ext>
            </a:extLst>
          </p:cNvPr>
          <p:cNvSpPr>
            <a:spLocks noGrp="1"/>
          </p:cNvSpPr>
          <p:nvPr>
            <p:ph type="subTitle" idx="1"/>
          </p:nvPr>
        </p:nvSpPr>
        <p:spPr/>
        <p:txBody>
          <a:bodyPr/>
          <a:lstStyle/>
          <a:p>
            <a:r>
              <a:rPr kumimoji="1" lang="ja-JP" altLang="en-US"/>
              <a:t>情報理工学部　玉田</a:t>
            </a:r>
          </a:p>
        </p:txBody>
      </p:sp>
    </p:spTree>
    <p:extLst>
      <p:ext uri="{BB962C8B-B14F-4D97-AF65-F5344CB8AC3E}">
        <p14:creationId xmlns:p14="http://schemas.microsoft.com/office/powerpoint/2010/main" val="1910049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4C9A94-9AF3-BC0D-F9A5-E15EBAA7544F}"/>
              </a:ext>
            </a:extLst>
          </p:cNvPr>
          <p:cNvSpPr>
            <a:spLocks noGrp="1"/>
          </p:cNvSpPr>
          <p:nvPr>
            <p:ph type="title"/>
          </p:nvPr>
        </p:nvSpPr>
        <p:spPr/>
        <p:txBody>
          <a:bodyPr/>
          <a:lstStyle/>
          <a:p>
            <a:r>
              <a:rPr kumimoji="1" lang="en-US" altLang="ja-JP" dirty="0"/>
              <a:t>Kyosan-eats</a:t>
            </a:r>
            <a:endParaRPr kumimoji="1" lang="ja-JP" altLang="en-US"/>
          </a:p>
        </p:txBody>
      </p:sp>
      <p:pic>
        <p:nvPicPr>
          <p:cNvPr id="4" name="図 3">
            <a:extLst>
              <a:ext uri="{FF2B5EF4-FFF2-40B4-BE49-F238E27FC236}">
                <a16:creationId xmlns:a16="http://schemas.microsoft.com/office/drawing/2014/main" id="{89C6FC45-09D0-EF2C-DDDC-4AA9910FD8D1}"/>
              </a:ext>
            </a:extLst>
          </p:cNvPr>
          <p:cNvPicPr>
            <a:picLocks noChangeAspect="1"/>
          </p:cNvPicPr>
          <p:nvPr/>
        </p:nvPicPr>
        <p:blipFill>
          <a:blip r:embed="rId2"/>
          <a:stretch>
            <a:fillRect/>
          </a:stretch>
        </p:blipFill>
        <p:spPr>
          <a:xfrm>
            <a:off x="7772400" y="1"/>
            <a:ext cx="4419600" cy="3477540"/>
          </a:xfrm>
          <a:prstGeom prst="rect">
            <a:avLst/>
          </a:prstGeom>
        </p:spPr>
      </p:pic>
      <p:sp>
        <p:nvSpPr>
          <p:cNvPr id="3" name="コンテンツ プレースホルダー 2">
            <a:extLst>
              <a:ext uri="{FF2B5EF4-FFF2-40B4-BE49-F238E27FC236}">
                <a16:creationId xmlns:a16="http://schemas.microsoft.com/office/drawing/2014/main" id="{C18C65C5-22BA-69CE-FA7D-A841F34AAEE3}"/>
              </a:ext>
            </a:extLst>
          </p:cNvPr>
          <p:cNvSpPr>
            <a:spLocks noGrp="1"/>
          </p:cNvSpPr>
          <p:nvPr>
            <p:ph idx="1"/>
          </p:nvPr>
        </p:nvSpPr>
        <p:spPr/>
        <p:txBody>
          <a:bodyPr>
            <a:normAutofit fontScale="85000" lnSpcReduction="20000"/>
          </a:bodyPr>
          <a:lstStyle/>
          <a:p>
            <a:pPr>
              <a:lnSpc>
                <a:spcPct val="120000"/>
              </a:lnSpc>
            </a:pPr>
            <a:r>
              <a:rPr lang="ja-JP" altLang="en-US"/>
              <a:t>学内の厚生施設、キッチンカー</a:t>
            </a:r>
            <a:br>
              <a:rPr lang="en-US" altLang="ja-JP" dirty="0"/>
            </a:br>
            <a:r>
              <a:rPr lang="ja-JP" altLang="en-US"/>
              <a:t>の営業時刻を一覧表示する。</a:t>
            </a:r>
            <a:endParaRPr lang="en-US" altLang="ja-JP" dirty="0"/>
          </a:p>
          <a:p>
            <a:pPr lvl="1">
              <a:lnSpc>
                <a:spcPct val="120000"/>
              </a:lnSpc>
            </a:pPr>
            <a:r>
              <a:rPr kumimoji="1" lang="en-US" altLang="ja-JP" dirty="0"/>
              <a:t>PDF</a:t>
            </a:r>
            <a:r>
              <a:rPr kumimoji="1" lang="ja-JP" altLang="en-US"/>
              <a:t>を開いたり、別のサイト</a:t>
            </a:r>
            <a:br>
              <a:rPr kumimoji="1" lang="en-US" altLang="ja-JP" dirty="0"/>
            </a:br>
            <a:r>
              <a:rPr kumimoji="1" lang="ja-JP" altLang="en-US"/>
              <a:t>を見に行ったりするのが面倒くさい。</a:t>
            </a:r>
            <a:endParaRPr kumimoji="1" lang="en-US" altLang="ja-JP" dirty="0"/>
          </a:p>
          <a:p>
            <a:pPr lvl="1">
              <a:lnSpc>
                <a:spcPct val="120000"/>
              </a:lnSpc>
            </a:pPr>
            <a:r>
              <a:rPr kumimoji="1" lang="ja-JP" altLang="en-US"/>
              <a:t>休日開講日やオープンキャンパスなど営業時間が特殊なケースを知りたい。</a:t>
            </a:r>
            <a:endParaRPr kumimoji="1" lang="en-US" altLang="ja-JP" dirty="0"/>
          </a:p>
          <a:p>
            <a:pPr lvl="1">
              <a:lnSpc>
                <a:spcPct val="120000"/>
              </a:lnSpc>
            </a:pPr>
            <a:r>
              <a:rPr kumimoji="1" lang="ja-JP" altLang="en-US"/>
              <a:t>学外から来た人に、食堂を案内する術がない。</a:t>
            </a:r>
          </a:p>
        </p:txBody>
      </p:sp>
    </p:spTree>
    <p:extLst>
      <p:ext uri="{BB962C8B-B14F-4D97-AF65-F5344CB8AC3E}">
        <p14:creationId xmlns:p14="http://schemas.microsoft.com/office/powerpoint/2010/main" val="2014840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B02E9E-0F8F-5FE3-7429-FFCD8AD08D87}"/>
              </a:ext>
            </a:extLst>
          </p:cNvPr>
          <p:cNvSpPr>
            <a:spLocks noGrp="1"/>
          </p:cNvSpPr>
          <p:nvPr>
            <p:ph type="title"/>
          </p:nvPr>
        </p:nvSpPr>
        <p:spPr>
          <a:xfrm>
            <a:off x="838200" y="365125"/>
            <a:ext cx="11353800" cy="1325563"/>
          </a:xfrm>
        </p:spPr>
        <p:txBody>
          <a:bodyPr/>
          <a:lstStyle/>
          <a:p>
            <a:r>
              <a:rPr kumimoji="1" lang="ja-JP" altLang="en-US"/>
              <a:t>特研活動で</a:t>
            </a:r>
            <a:r>
              <a:rPr lang="ja-JP" altLang="en-US"/>
              <a:t>作成してもらった</a:t>
            </a:r>
            <a:endParaRPr kumimoji="1" lang="ja-JP" altLang="en-US"/>
          </a:p>
        </p:txBody>
      </p:sp>
      <p:sp>
        <p:nvSpPr>
          <p:cNvPr id="3" name="コンテンツ プレースホルダー 2">
            <a:extLst>
              <a:ext uri="{FF2B5EF4-FFF2-40B4-BE49-F238E27FC236}">
                <a16:creationId xmlns:a16="http://schemas.microsoft.com/office/drawing/2014/main" id="{40644717-A670-9FF8-B1B5-E5E0C4AE8AAB}"/>
              </a:ext>
            </a:extLst>
          </p:cNvPr>
          <p:cNvSpPr>
            <a:spLocks noGrp="1"/>
          </p:cNvSpPr>
          <p:nvPr>
            <p:ph idx="1"/>
          </p:nvPr>
        </p:nvSpPr>
        <p:spPr>
          <a:xfrm>
            <a:off x="838200" y="1825625"/>
            <a:ext cx="10783186" cy="4351338"/>
          </a:xfrm>
        </p:spPr>
        <p:txBody>
          <a:bodyPr>
            <a:normAutofit fontScale="85000" lnSpcReduction="10000"/>
          </a:bodyPr>
          <a:lstStyle/>
          <a:p>
            <a:pPr>
              <a:lnSpc>
                <a:spcPct val="120000"/>
              </a:lnSpc>
            </a:pPr>
            <a:r>
              <a:rPr lang="ja-JP" altLang="en-US"/>
              <a:t>基本的にシステム構成は一切指示していない。</a:t>
            </a:r>
            <a:endParaRPr lang="en-US" altLang="ja-JP" dirty="0"/>
          </a:p>
          <a:p>
            <a:pPr>
              <a:lnSpc>
                <a:spcPct val="120000"/>
              </a:lnSpc>
            </a:pPr>
            <a:r>
              <a:rPr lang="ja-JP" altLang="en-US"/>
              <a:t>完成したもの</a:t>
            </a:r>
            <a:endParaRPr lang="en-US" altLang="ja-JP" dirty="0"/>
          </a:p>
          <a:p>
            <a:pPr lvl="1">
              <a:lnSpc>
                <a:spcPct val="120000"/>
              </a:lnSpc>
            </a:pPr>
            <a:r>
              <a:rPr lang="en-US" altLang="ja-JP" dirty="0">
                <a:hlinkClick r:id="rId2"/>
              </a:rPr>
              <a:t>https://kyosan-eats.vercel.app</a:t>
            </a:r>
            <a:endParaRPr lang="en-US" altLang="ja-JP" dirty="0"/>
          </a:p>
          <a:p>
            <a:pPr lvl="2">
              <a:lnSpc>
                <a:spcPct val="120000"/>
              </a:lnSpc>
            </a:pPr>
            <a:r>
              <a:rPr kumimoji="1" lang="en-US" altLang="ja-JP" dirty="0" err="1"/>
              <a:t>Vercel+supabase</a:t>
            </a:r>
            <a:endParaRPr kumimoji="1" lang="en-US" altLang="ja-JP" dirty="0"/>
          </a:p>
          <a:p>
            <a:pPr lvl="2">
              <a:lnSpc>
                <a:spcPct val="120000"/>
              </a:lnSpc>
            </a:pPr>
            <a:r>
              <a:rPr lang="en-US" altLang="ja-JP" dirty="0"/>
              <a:t>GitHub</a:t>
            </a:r>
            <a:r>
              <a:rPr lang="ja-JP" altLang="en-US"/>
              <a:t>でコード管理</a:t>
            </a:r>
            <a:endParaRPr lang="en-US" altLang="ja-JP" dirty="0"/>
          </a:p>
          <a:p>
            <a:pPr lvl="3">
              <a:lnSpc>
                <a:spcPct val="120000"/>
              </a:lnSpc>
            </a:pPr>
            <a:r>
              <a:rPr lang="en-US" altLang="ja-JP" dirty="0">
                <a:hlinkClick r:id="rId3"/>
              </a:rPr>
              <a:t>https://github.com/tamadalab/kyosan-eats-frontend</a:t>
            </a:r>
            <a:endParaRPr lang="en-US" altLang="ja-JP" dirty="0"/>
          </a:p>
          <a:p>
            <a:pPr lvl="3">
              <a:lnSpc>
                <a:spcPct val="120000"/>
              </a:lnSpc>
            </a:pPr>
            <a:r>
              <a:rPr lang="en-US" altLang="ja-JP" dirty="0">
                <a:hlinkClick r:id="rId4"/>
              </a:rPr>
              <a:t>https://github.com/tamadalab/kyosan-eats-backend</a:t>
            </a:r>
            <a:endParaRPr lang="en-US" altLang="ja-JP" dirty="0"/>
          </a:p>
        </p:txBody>
      </p:sp>
    </p:spTree>
    <p:extLst>
      <p:ext uri="{BB962C8B-B14F-4D97-AF65-F5344CB8AC3E}">
        <p14:creationId xmlns:p14="http://schemas.microsoft.com/office/powerpoint/2010/main" val="1864209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7B7AF8-B232-4B2C-FC58-D3A1C8F25485}"/>
              </a:ext>
            </a:extLst>
          </p:cNvPr>
          <p:cNvSpPr>
            <a:spLocks noGrp="1"/>
          </p:cNvSpPr>
          <p:nvPr>
            <p:ph type="title"/>
          </p:nvPr>
        </p:nvSpPr>
        <p:spPr/>
        <p:txBody>
          <a:bodyPr/>
          <a:lstStyle/>
          <a:p>
            <a:r>
              <a:rPr kumimoji="1" lang="ja-JP" altLang="en-US"/>
              <a:t>問題点</a:t>
            </a:r>
          </a:p>
        </p:txBody>
      </p:sp>
      <p:sp>
        <p:nvSpPr>
          <p:cNvPr id="3" name="コンテンツ プレースホルダー 2">
            <a:extLst>
              <a:ext uri="{FF2B5EF4-FFF2-40B4-BE49-F238E27FC236}">
                <a16:creationId xmlns:a16="http://schemas.microsoft.com/office/drawing/2014/main" id="{48C08B90-16AD-6EF0-3CB4-D00402EB314A}"/>
              </a:ext>
            </a:extLst>
          </p:cNvPr>
          <p:cNvSpPr>
            <a:spLocks noGrp="1"/>
          </p:cNvSpPr>
          <p:nvPr>
            <p:ph idx="1"/>
          </p:nvPr>
        </p:nvSpPr>
        <p:spPr/>
        <p:txBody>
          <a:bodyPr>
            <a:normAutofit fontScale="47500" lnSpcReduction="20000"/>
          </a:bodyPr>
          <a:lstStyle/>
          <a:p>
            <a:pPr>
              <a:lnSpc>
                <a:spcPct val="120000"/>
              </a:lnSpc>
            </a:pPr>
            <a:r>
              <a:rPr lang="ja-JP" altLang="en-US"/>
              <a:t>継続性</a:t>
            </a:r>
            <a:endParaRPr lang="en-US" altLang="ja-JP" dirty="0"/>
          </a:p>
          <a:p>
            <a:pPr lvl="1">
              <a:lnSpc>
                <a:spcPct val="120000"/>
              </a:lnSpc>
            </a:pPr>
            <a:r>
              <a:rPr lang="en-US" altLang="ja-JP" dirty="0" err="1"/>
              <a:t>Vercel</a:t>
            </a:r>
            <a:r>
              <a:rPr lang="en-US" altLang="ja-JP" dirty="0"/>
              <a:t>, </a:t>
            </a:r>
            <a:r>
              <a:rPr lang="en-US" altLang="ja-JP" dirty="0" err="1"/>
              <a:t>supabase</a:t>
            </a:r>
            <a:r>
              <a:rPr lang="en-US" altLang="ja-JP" dirty="0"/>
              <a:t>, GitHub</a:t>
            </a:r>
            <a:r>
              <a:rPr lang="ja-JP" altLang="en-US"/>
              <a:t>など利用サービスが多い。</a:t>
            </a:r>
            <a:endParaRPr lang="en-US" altLang="ja-JP" dirty="0"/>
          </a:p>
          <a:p>
            <a:pPr lvl="1">
              <a:lnSpc>
                <a:spcPct val="120000"/>
              </a:lnSpc>
            </a:pPr>
            <a:r>
              <a:rPr lang="ja-JP" altLang="en-US"/>
              <a:t>長大な</a:t>
            </a:r>
            <a:r>
              <a:rPr lang="en-US" altLang="ja-JP" dirty="0"/>
              <a:t>1</a:t>
            </a:r>
            <a:r>
              <a:rPr lang="ja-JP" altLang="en-US"/>
              <a:t>つのスクリプトで色々なことをやっている。</a:t>
            </a:r>
            <a:endParaRPr lang="en-US" altLang="ja-JP" dirty="0"/>
          </a:p>
          <a:p>
            <a:pPr>
              <a:lnSpc>
                <a:spcPct val="120000"/>
              </a:lnSpc>
            </a:pPr>
            <a:r>
              <a:rPr lang="ja-JP" altLang="en-US"/>
              <a:t>構成</a:t>
            </a:r>
            <a:endParaRPr lang="en-US" altLang="ja-JP" dirty="0"/>
          </a:p>
          <a:p>
            <a:pPr lvl="1">
              <a:lnSpc>
                <a:spcPct val="120000"/>
              </a:lnSpc>
            </a:pPr>
            <a:r>
              <a:rPr lang="en-US" altLang="ja-JP" dirty="0"/>
              <a:t>frontend, backend</a:t>
            </a:r>
            <a:r>
              <a:rPr lang="ja-JP" altLang="en-US"/>
              <a:t>に分けられていて、コード管理が面倒くさい。</a:t>
            </a:r>
            <a:endParaRPr lang="en-US" altLang="ja-JP" dirty="0"/>
          </a:p>
          <a:p>
            <a:pPr lvl="1">
              <a:lnSpc>
                <a:spcPct val="120000"/>
              </a:lnSpc>
            </a:pPr>
            <a:r>
              <a:rPr lang="en-US" altLang="ja-JP" dirty="0"/>
              <a:t>PDF</a:t>
            </a:r>
            <a:r>
              <a:rPr lang="ja-JP" altLang="en-US"/>
              <a:t>等を取得しているものの、</a:t>
            </a:r>
            <a:r>
              <a:rPr lang="en-US" altLang="ja-JP" dirty="0"/>
              <a:t>PDF</a:t>
            </a:r>
            <a:r>
              <a:rPr lang="ja-JP" altLang="en-US"/>
              <a:t>名を決めうちなど現在の内容を信じすぎている。</a:t>
            </a:r>
            <a:endParaRPr lang="en-US" altLang="ja-JP" dirty="0"/>
          </a:p>
          <a:p>
            <a:pPr lvl="1">
              <a:lnSpc>
                <a:spcPct val="120000"/>
              </a:lnSpc>
            </a:pPr>
            <a:r>
              <a:rPr lang="en-US" altLang="ja-JP" dirty="0"/>
              <a:t>HTML</a:t>
            </a:r>
            <a:r>
              <a:rPr lang="ja-JP" altLang="en-US"/>
              <a:t>から直接データベースに接続している（</a:t>
            </a:r>
            <a:r>
              <a:rPr lang="en-US" altLang="ja-JP" dirty="0"/>
              <a:t>frontend</a:t>
            </a:r>
            <a:r>
              <a:rPr lang="ja-JP" altLang="en-US"/>
              <a:t>と</a:t>
            </a:r>
            <a:r>
              <a:rPr lang="en-US" altLang="ja-JP" dirty="0"/>
              <a:t>backend</a:t>
            </a:r>
            <a:r>
              <a:rPr lang="ja-JP" altLang="en-US"/>
              <a:t>が強依存している）。</a:t>
            </a:r>
            <a:endParaRPr lang="en-US" altLang="ja-JP" dirty="0"/>
          </a:p>
          <a:p>
            <a:pPr>
              <a:lnSpc>
                <a:spcPct val="120000"/>
              </a:lnSpc>
            </a:pPr>
            <a:r>
              <a:rPr lang="ja-JP" altLang="en-US"/>
              <a:t>作成した学年が卒業した後にサービスが維持できない。</a:t>
            </a:r>
            <a:endParaRPr lang="en-US" altLang="ja-JP" dirty="0"/>
          </a:p>
          <a:p>
            <a:pPr lvl="1">
              <a:lnSpc>
                <a:spcPct val="120000"/>
              </a:lnSpc>
            </a:pPr>
            <a:r>
              <a:rPr lang="ja-JP" altLang="en-US"/>
              <a:t>現状の他のシステムを盲信している部分が多いので、変わったとき修正が必要になる。</a:t>
            </a:r>
            <a:endParaRPr lang="en-US" altLang="ja-JP" dirty="0"/>
          </a:p>
          <a:p>
            <a:pPr lvl="1">
              <a:lnSpc>
                <a:spcPct val="120000"/>
              </a:lnSpc>
            </a:pPr>
            <a:r>
              <a:rPr kumimoji="1" lang="ja-JP" altLang="en-US"/>
              <a:t>他のシステムからの利用が考えられていない。</a:t>
            </a:r>
          </a:p>
        </p:txBody>
      </p:sp>
    </p:spTree>
    <p:extLst>
      <p:ext uri="{BB962C8B-B14F-4D97-AF65-F5344CB8AC3E}">
        <p14:creationId xmlns:p14="http://schemas.microsoft.com/office/powerpoint/2010/main" val="1749290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BC994C-90F5-5941-A221-37631FC18D0E}"/>
              </a:ext>
            </a:extLst>
          </p:cNvPr>
          <p:cNvSpPr>
            <a:spLocks noGrp="1"/>
          </p:cNvSpPr>
          <p:nvPr>
            <p:ph type="title"/>
          </p:nvPr>
        </p:nvSpPr>
        <p:spPr/>
        <p:txBody>
          <a:bodyPr/>
          <a:lstStyle/>
          <a:p>
            <a:r>
              <a:rPr lang="ja-JP" altLang="en-US"/>
              <a:t>理想</a:t>
            </a:r>
            <a:endParaRPr kumimoji="1" lang="ja-JP" altLang="en-US"/>
          </a:p>
        </p:txBody>
      </p:sp>
      <p:sp>
        <p:nvSpPr>
          <p:cNvPr id="3" name="コンテンツ プレースホルダー 2">
            <a:extLst>
              <a:ext uri="{FF2B5EF4-FFF2-40B4-BE49-F238E27FC236}">
                <a16:creationId xmlns:a16="http://schemas.microsoft.com/office/drawing/2014/main" id="{40346113-9853-38CF-6EF3-7840A20B8832}"/>
              </a:ext>
            </a:extLst>
          </p:cNvPr>
          <p:cNvSpPr>
            <a:spLocks noGrp="1"/>
          </p:cNvSpPr>
          <p:nvPr>
            <p:ph idx="1"/>
          </p:nvPr>
        </p:nvSpPr>
        <p:spPr/>
        <p:txBody>
          <a:bodyPr>
            <a:normAutofit fontScale="47500" lnSpcReduction="20000"/>
          </a:bodyPr>
          <a:lstStyle/>
          <a:p>
            <a:pPr>
              <a:lnSpc>
                <a:spcPct val="120000"/>
              </a:lnSpc>
            </a:pPr>
            <a:r>
              <a:rPr kumimoji="1" lang="ja-JP" altLang="en-US"/>
              <a:t>他システムからも利用できる。</a:t>
            </a:r>
            <a:endParaRPr kumimoji="1" lang="en-US" altLang="ja-JP" dirty="0"/>
          </a:p>
          <a:p>
            <a:pPr lvl="1">
              <a:lnSpc>
                <a:spcPct val="120000"/>
              </a:lnSpc>
            </a:pPr>
            <a:r>
              <a:rPr lang="en-US" altLang="ja-JP" dirty="0"/>
              <a:t>REST API, </a:t>
            </a:r>
            <a:r>
              <a:rPr lang="en-US" altLang="ja-JP" dirty="0" err="1"/>
              <a:t>GraphQL</a:t>
            </a:r>
            <a:r>
              <a:rPr lang="en-US" altLang="ja-JP" dirty="0"/>
              <a:t>, </a:t>
            </a:r>
            <a:r>
              <a:rPr lang="en-US" altLang="ja-JP" dirty="0" err="1"/>
              <a:t>gRPC</a:t>
            </a:r>
            <a:r>
              <a:rPr lang="en-US" altLang="ja-JP" dirty="0"/>
              <a:t>, </a:t>
            </a:r>
            <a:r>
              <a:rPr lang="en-US" altLang="ja-JP" dirty="0" err="1"/>
              <a:t>tRPC</a:t>
            </a:r>
            <a:r>
              <a:rPr lang="en-US" altLang="ja-JP" dirty="0"/>
              <a:t>, </a:t>
            </a:r>
            <a:r>
              <a:rPr lang="en-US" altLang="ja-JP" dirty="0" err="1"/>
              <a:t>ConnectRPC</a:t>
            </a:r>
            <a:r>
              <a:rPr lang="en-US" altLang="ja-JP" dirty="0"/>
              <a:t>, ...</a:t>
            </a:r>
            <a:endParaRPr kumimoji="1" lang="en-US" altLang="ja-JP" dirty="0"/>
          </a:p>
          <a:p>
            <a:pPr>
              <a:lnSpc>
                <a:spcPct val="120000"/>
              </a:lnSpc>
            </a:pPr>
            <a:r>
              <a:rPr lang="ja-JP" altLang="en-US"/>
              <a:t>シンプルな構成</a:t>
            </a:r>
            <a:endParaRPr lang="en-US" altLang="ja-JP" dirty="0"/>
          </a:p>
          <a:p>
            <a:pPr lvl="1">
              <a:lnSpc>
                <a:spcPct val="120000"/>
              </a:lnSpc>
            </a:pPr>
            <a:r>
              <a:rPr lang="ja-JP" altLang="en-US"/>
              <a:t>データベースは必要か？</a:t>
            </a:r>
            <a:endParaRPr lang="en-US" altLang="ja-JP" dirty="0"/>
          </a:p>
          <a:p>
            <a:pPr>
              <a:lnSpc>
                <a:spcPct val="120000"/>
              </a:lnSpc>
            </a:pPr>
            <a:r>
              <a:rPr lang="ja-JP" altLang="en-US"/>
              <a:t>シンプルなサービス構造</a:t>
            </a:r>
            <a:endParaRPr lang="en-US" altLang="ja-JP" dirty="0"/>
          </a:p>
          <a:p>
            <a:pPr lvl="1">
              <a:lnSpc>
                <a:spcPct val="120000"/>
              </a:lnSpc>
            </a:pPr>
            <a:r>
              <a:rPr lang="ja-JP" altLang="en-US"/>
              <a:t>サービスは</a:t>
            </a:r>
            <a:r>
              <a:rPr lang="en-US" altLang="ja-JP" dirty="0"/>
              <a:t>1</a:t>
            </a:r>
            <a:r>
              <a:rPr lang="ja-JP" altLang="en-US"/>
              <a:t>つか</a:t>
            </a:r>
            <a:r>
              <a:rPr lang="en-US" altLang="ja-JP" dirty="0"/>
              <a:t>2</a:t>
            </a:r>
            <a:r>
              <a:rPr lang="ja-JP" altLang="en-US"/>
              <a:t>つ。</a:t>
            </a:r>
            <a:endParaRPr lang="en-US" altLang="ja-JP" dirty="0"/>
          </a:p>
          <a:p>
            <a:pPr>
              <a:lnSpc>
                <a:spcPct val="120000"/>
              </a:lnSpc>
            </a:pPr>
            <a:r>
              <a:rPr lang="ja-JP" altLang="en-US"/>
              <a:t>頑健なシステム</a:t>
            </a:r>
            <a:endParaRPr lang="en-US" altLang="ja-JP" dirty="0"/>
          </a:p>
          <a:p>
            <a:pPr lvl="1">
              <a:lnSpc>
                <a:spcPct val="120000"/>
              </a:lnSpc>
            </a:pPr>
            <a:r>
              <a:rPr lang="ja-JP" altLang="en-US"/>
              <a:t>現状のシステムを盲信しない。</a:t>
            </a:r>
            <a:endParaRPr lang="en-US" altLang="ja-JP" dirty="0"/>
          </a:p>
          <a:p>
            <a:pPr>
              <a:lnSpc>
                <a:spcPct val="120000"/>
              </a:lnSpc>
            </a:pPr>
            <a:r>
              <a:rPr lang="ja-JP" altLang="en-US"/>
              <a:t>利便性</a:t>
            </a:r>
            <a:endParaRPr lang="en-US" altLang="ja-JP" dirty="0"/>
          </a:p>
          <a:p>
            <a:pPr>
              <a:lnSpc>
                <a:spcPct val="120000"/>
              </a:lnSpc>
            </a:pPr>
            <a:r>
              <a:rPr lang="ja-JP" altLang="en-US"/>
              <a:t>継続性</a:t>
            </a:r>
            <a:endParaRPr lang="en-US" altLang="ja-JP" dirty="0"/>
          </a:p>
        </p:txBody>
      </p:sp>
    </p:spTree>
    <p:extLst>
      <p:ext uri="{BB962C8B-B14F-4D97-AF65-F5344CB8AC3E}">
        <p14:creationId xmlns:p14="http://schemas.microsoft.com/office/powerpoint/2010/main" val="1602357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AB37FC-FF2C-E0CC-AA59-66CDA321411E}"/>
              </a:ext>
            </a:extLst>
          </p:cNvPr>
          <p:cNvSpPr>
            <a:spLocks noGrp="1"/>
          </p:cNvSpPr>
          <p:nvPr>
            <p:ph type="title"/>
          </p:nvPr>
        </p:nvSpPr>
        <p:spPr/>
        <p:txBody>
          <a:bodyPr/>
          <a:lstStyle/>
          <a:p>
            <a:r>
              <a:rPr kumimoji="1" lang="en-US" altLang="ja-JP" dirty="0"/>
              <a:t>Welfare-Time</a:t>
            </a:r>
            <a:endParaRPr kumimoji="1" lang="ja-JP" altLang="en-US"/>
          </a:p>
        </p:txBody>
      </p:sp>
      <p:sp>
        <p:nvSpPr>
          <p:cNvPr id="3" name="コンテンツ プレースホルダー 2">
            <a:extLst>
              <a:ext uri="{FF2B5EF4-FFF2-40B4-BE49-F238E27FC236}">
                <a16:creationId xmlns:a16="http://schemas.microsoft.com/office/drawing/2014/main" id="{2A84026E-9B60-2D45-4C38-2F08A5A413D3}"/>
              </a:ext>
            </a:extLst>
          </p:cNvPr>
          <p:cNvSpPr>
            <a:spLocks noGrp="1"/>
          </p:cNvSpPr>
          <p:nvPr>
            <p:ph idx="1"/>
          </p:nvPr>
        </p:nvSpPr>
        <p:spPr>
          <a:xfrm>
            <a:off x="838200" y="1825625"/>
            <a:ext cx="5257800" cy="4351338"/>
          </a:xfrm>
        </p:spPr>
        <p:txBody>
          <a:bodyPr>
            <a:normAutofit fontScale="62500" lnSpcReduction="20000"/>
          </a:bodyPr>
          <a:lstStyle/>
          <a:p>
            <a:pPr>
              <a:lnSpc>
                <a:spcPct val="120000"/>
              </a:lnSpc>
            </a:pPr>
            <a:r>
              <a:rPr kumimoji="1" lang="en-US" altLang="ja-JP" dirty="0"/>
              <a:t>GitHub + GitHub Pages</a:t>
            </a:r>
          </a:p>
          <a:p>
            <a:pPr>
              <a:lnSpc>
                <a:spcPct val="120000"/>
              </a:lnSpc>
            </a:pPr>
            <a:r>
              <a:rPr lang="ja-JP" altLang="en-US"/>
              <a:t>処理ごとにスクリプトを分け、</a:t>
            </a:r>
            <a:r>
              <a:rPr lang="en-US" altLang="ja-JP" dirty="0"/>
              <a:t>GitHub Actions</a:t>
            </a:r>
            <a:r>
              <a:rPr lang="ja-JP" altLang="en-US"/>
              <a:t>で統合する。</a:t>
            </a:r>
            <a:endParaRPr lang="en-US" altLang="ja-JP" dirty="0"/>
          </a:p>
          <a:p>
            <a:pPr>
              <a:lnSpc>
                <a:spcPct val="120000"/>
              </a:lnSpc>
            </a:pPr>
            <a:r>
              <a:rPr lang="en-US" altLang="ja-JP" dirty="0"/>
              <a:t>REST API</a:t>
            </a:r>
            <a:r>
              <a:rPr lang="ja-JP" altLang="en-US"/>
              <a:t>（擬似</a:t>
            </a:r>
            <a:r>
              <a:rPr lang="en-US" altLang="ja-JP" dirty="0"/>
              <a:t>REST</a:t>
            </a:r>
            <a:r>
              <a:rPr lang="ja-JP" altLang="en-US"/>
              <a:t>）</a:t>
            </a:r>
            <a:endParaRPr lang="en-US" altLang="ja-JP" dirty="0"/>
          </a:p>
          <a:p>
            <a:pPr lvl="1">
              <a:lnSpc>
                <a:spcPct val="120000"/>
              </a:lnSpc>
            </a:pPr>
            <a:r>
              <a:rPr kumimoji="1" lang="ja-JP" altLang="en-US"/>
              <a:t>静的な</a:t>
            </a:r>
            <a:r>
              <a:rPr kumimoji="1" lang="en-US" altLang="ja-JP" dirty="0"/>
              <a:t>JSON</a:t>
            </a:r>
            <a:r>
              <a:rPr kumimoji="1" lang="ja-JP" altLang="en-US"/>
              <a:t>を特定のフォルダに置くことで実現する。</a:t>
            </a:r>
            <a:endParaRPr kumimoji="1" lang="en-US" altLang="ja-JP" dirty="0"/>
          </a:p>
          <a:p>
            <a:pPr>
              <a:lnSpc>
                <a:spcPct val="120000"/>
              </a:lnSpc>
            </a:pPr>
            <a:r>
              <a:rPr lang="ja-JP" altLang="en-US"/>
              <a:t>生成</a:t>
            </a:r>
            <a:r>
              <a:rPr lang="en-US" altLang="ja-JP" dirty="0"/>
              <a:t>AI</a:t>
            </a:r>
            <a:r>
              <a:rPr lang="ja-JP" altLang="en-US"/>
              <a:t>（</a:t>
            </a:r>
            <a:r>
              <a:rPr lang="en-US" altLang="ja-JP" dirty="0"/>
              <a:t>Google Gemini</a:t>
            </a:r>
            <a:r>
              <a:rPr lang="ja-JP" altLang="en-US"/>
              <a:t>）に作ってもらう。</a:t>
            </a:r>
            <a:endParaRPr lang="en-US" altLang="ja-JP" dirty="0"/>
          </a:p>
          <a:p>
            <a:pPr>
              <a:lnSpc>
                <a:spcPct val="120000"/>
              </a:lnSpc>
            </a:pPr>
            <a:endParaRPr lang="en-US" altLang="ja-JP" dirty="0"/>
          </a:p>
        </p:txBody>
      </p:sp>
      <p:pic>
        <p:nvPicPr>
          <p:cNvPr id="5" name="図 4">
            <a:extLst>
              <a:ext uri="{FF2B5EF4-FFF2-40B4-BE49-F238E27FC236}">
                <a16:creationId xmlns:a16="http://schemas.microsoft.com/office/drawing/2014/main" id="{A05701F9-DF78-DD0F-B9BA-B3B196B913A4}"/>
              </a:ext>
            </a:extLst>
          </p:cNvPr>
          <p:cNvPicPr>
            <a:picLocks noChangeAspect="1"/>
          </p:cNvPicPr>
          <p:nvPr/>
        </p:nvPicPr>
        <p:blipFill>
          <a:blip r:embed="rId2"/>
          <a:stretch>
            <a:fillRect/>
          </a:stretch>
        </p:blipFill>
        <p:spPr>
          <a:xfrm>
            <a:off x="6527409" y="365125"/>
            <a:ext cx="5469988" cy="2769153"/>
          </a:xfrm>
          <a:prstGeom prst="rect">
            <a:avLst/>
          </a:prstGeom>
        </p:spPr>
      </p:pic>
      <p:pic>
        <p:nvPicPr>
          <p:cNvPr id="7" name="図 6">
            <a:extLst>
              <a:ext uri="{FF2B5EF4-FFF2-40B4-BE49-F238E27FC236}">
                <a16:creationId xmlns:a16="http://schemas.microsoft.com/office/drawing/2014/main" id="{F41D97AB-A0C3-EC7F-7209-8A68910FBF50}"/>
              </a:ext>
            </a:extLst>
          </p:cNvPr>
          <p:cNvPicPr>
            <a:picLocks noChangeAspect="1"/>
          </p:cNvPicPr>
          <p:nvPr/>
        </p:nvPicPr>
        <p:blipFill>
          <a:blip r:embed="rId3"/>
          <a:stretch>
            <a:fillRect/>
          </a:stretch>
        </p:blipFill>
        <p:spPr>
          <a:xfrm>
            <a:off x="6527409" y="3407810"/>
            <a:ext cx="5469988" cy="2769153"/>
          </a:xfrm>
          <a:prstGeom prst="rect">
            <a:avLst/>
          </a:prstGeom>
        </p:spPr>
      </p:pic>
    </p:spTree>
    <p:extLst>
      <p:ext uri="{BB962C8B-B14F-4D97-AF65-F5344CB8AC3E}">
        <p14:creationId xmlns:p14="http://schemas.microsoft.com/office/powerpoint/2010/main" val="1382520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1867C8-35F6-A85B-E5BD-B660593437B8}"/>
              </a:ext>
            </a:extLst>
          </p:cNvPr>
          <p:cNvSpPr>
            <a:spLocks noGrp="1"/>
          </p:cNvSpPr>
          <p:nvPr>
            <p:ph type="title"/>
          </p:nvPr>
        </p:nvSpPr>
        <p:spPr/>
        <p:txBody>
          <a:bodyPr/>
          <a:lstStyle/>
          <a:p>
            <a:r>
              <a:rPr lang="en-US" altLang="ja-JP" sz="4800" dirty="0"/>
              <a:t>Vibe Coding</a:t>
            </a:r>
            <a:br>
              <a:rPr lang="en-US" altLang="ja-JP" dirty="0"/>
            </a:br>
            <a:r>
              <a:rPr kumimoji="1" lang="ja-JP" altLang="en-US"/>
              <a:t>つまづきどころ</a:t>
            </a:r>
            <a:endParaRPr kumimoji="1" lang="ja-JP" altLang="en-US" sz="4800"/>
          </a:p>
        </p:txBody>
      </p:sp>
      <p:sp>
        <p:nvSpPr>
          <p:cNvPr id="3" name="コンテンツ プレースホルダー 2">
            <a:extLst>
              <a:ext uri="{FF2B5EF4-FFF2-40B4-BE49-F238E27FC236}">
                <a16:creationId xmlns:a16="http://schemas.microsoft.com/office/drawing/2014/main" id="{D7F6B43C-6009-00CE-85C4-7208DA28837C}"/>
              </a:ext>
            </a:extLst>
          </p:cNvPr>
          <p:cNvSpPr>
            <a:spLocks noGrp="1"/>
          </p:cNvSpPr>
          <p:nvPr>
            <p:ph idx="1"/>
          </p:nvPr>
        </p:nvSpPr>
        <p:spPr/>
        <p:txBody>
          <a:bodyPr>
            <a:normAutofit fontScale="85000" lnSpcReduction="10000"/>
          </a:bodyPr>
          <a:lstStyle/>
          <a:p>
            <a:pPr>
              <a:lnSpc>
                <a:spcPct val="110000"/>
              </a:lnSpc>
            </a:pPr>
            <a:r>
              <a:rPr kumimoji="1" lang="ja-JP" altLang="en-US"/>
              <a:t>コードは書けるが、システムの</a:t>
            </a:r>
            <a:r>
              <a:rPr lang="ja-JP" altLang="en-US"/>
              <a:t>設計ができない。</a:t>
            </a:r>
            <a:endParaRPr lang="en-US" altLang="ja-JP" dirty="0"/>
          </a:p>
          <a:p>
            <a:pPr>
              <a:lnSpc>
                <a:spcPct val="110000"/>
              </a:lnSpc>
            </a:pPr>
            <a:r>
              <a:rPr lang="en-US" altLang="ja-JP" dirty="0"/>
              <a:t>HTML</a:t>
            </a:r>
            <a:r>
              <a:rPr lang="ja-JP" altLang="en-US"/>
              <a:t>の構造化は難しい。</a:t>
            </a:r>
            <a:endParaRPr lang="en-US" altLang="ja-JP" dirty="0"/>
          </a:p>
          <a:p>
            <a:pPr>
              <a:lnSpc>
                <a:spcPct val="110000"/>
              </a:lnSpc>
            </a:pPr>
            <a:r>
              <a:rPr lang="ja-JP" altLang="en-US"/>
              <a:t>古いしきたりに縛られている。</a:t>
            </a:r>
            <a:endParaRPr lang="en-US" altLang="ja-JP" dirty="0"/>
          </a:p>
          <a:p>
            <a:pPr>
              <a:lnSpc>
                <a:spcPct val="110000"/>
              </a:lnSpc>
            </a:pPr>
            <a:r>
              <a:rPr lang="ja-JP" altLang="en-US"/>
              <a:t>食堂の営業時間の</a:t>
            </a:r>
            <a:r>
              <a:rPr lang="en-US" altLang="ja-JP" dirty="0"/>
              <a:t>PDF</a:t>
            </a:r>
            <a:r>
              <a:rPr lang="ja-JP" altLang="en-US"/>
              <a:t>は解析が難しい。</a:t>
            </a:r>
            <a:endParaRPr lang="en-US" altLang="ja-JP" dirty="0"/>
          </a:p>
          <a:p>
            <a:pPr>
              <a:lnSpc>
                <a:spcPct val="110000"/>
              </a:lnSpc>
            </a:pPr>
            <a:r>
              <a:rPr lang="ja-JP" altLang="en-US"/>
              <a:t>相談のつもりで質問すると、いきなりコードを変更し始める。</a:t>
            </a:r>
            <a:endParaRPr lang="en-US" altLang="ja-JP" dirty="0"/>
          </a:p>
        </p:txBody>
      </p:sp>
    </p:spTree>
    <p:extLst>
      <p:ext uri="{BB962C8B-B14F-4D97-AF65-F5344CB8AC3E}">
        <p14:creationId xmlns:p14="http://schemas.microsoft.com/office/powerpoint/2010/main" val="338434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1479AF-13A8-A4EE-4D59-E41540B0A566}"/>
              </a:ext>
            </a:extLst>
          </p:cNvPr>
          <p:cNvSpPr>
            <a:spLocks noGrp="1"/>
          </p:cNvSpPr>
          <p:nvPr>
            <p:ph type="title"/>
          </p:nvPr>
        </p:nvSpPr>
        <p:spPr/>
        <p:txBody>
          <a:bodyPr/>
          <a:lstStyle/>
          <a:p>
            <a:r>
              <a:rPr kumimoji="1" lang="ja-JP" altLang="en-US"/>
              <a:t>システム設計ができない。</a:t>
            </a:r>
          </a:p>
        </p:txBody>
      </p:sp>
      <p:sp>
        <p:nvSpPr>
          <p:cNvPr id="3" name="コンテンツ プレースホルダー 2">
            <a:extLst>
              <a:ext uri="{FF2B5EF4-FFF2-40B4-BE49-F238E27FC236}">
                <a16:creationId xmlns:a16="http://schemas.microsoft.com/office/drawing/2014/main" id="{B1DDDB41-8675-1150-865F-5ACA59B8B4F0}"/>
              </a:ext>
            </a:extLst>
          </p:cNvPr>
          <p:cNvSpPr>
            <a:spLocks noGrp="1"/>
          </p:cNvSpPr>
          <p:nvPr>
            <p:ph idx="1"/>
          </p:nvPr>
        </p:nvSpPr>
        <p:spPr/>
        <p:txBody>
          <a:bodyPr>
            <a:normAutofit fontScale="92500" lnSpcReduction="20000"/>
          </a:bodyPr>
          <a:lstStyle/>
          <a:p>
            <a:pPr>
              <a:lnSpc>
                <a:spcPct val="110000"/>
              </a:lnSpc>
            </a:pPr>
            <a:r>
              <a:rPr lang="en-US" altLang="ja-JP" dirty="0" err="1"/>
              <a:t>spec.md</a:t>
            </a:r>
            <a:r>
              <a:rPr lang="en-US" altLang="ja-JP" dirty="0"/>
              <a:t> </a:t>
            </a:r>
            <a:r>
              <a:rPr lang="ja-JP" altLang="en-US"/>
              <a:t>を書き、システムを構築してもらうと、長大な</a:t>
            </a:r>
            <a:r>
              <a:rPr lang="en-US" altLang="ja-JP" dirty="0"/>
              <a:t>JavaScript</a:t>
            </a:r>
            <a:r>
              <a:rPr lang="ja-JP" altLang="en-US"/>
              <a:t>を含む巨大な</a:t>
            </a:r>
            <a:r>
              <a:rPr lang="en-US" altLang="ja-JP" dirty="0"/>
              <a:t>HTML</a:t>
            </a:r>
            <a:r>
              <a:rPr lang="ja-JP" altLang="en-US"/>
              <a:t>が出来上がった。</a:t>
            </a:r>
            <a:endParaRPr lang="en-US" altLang="ja-JP" dirty="0"/>
          </a:p>
          <a:p>
            <a:pPr lvl="1">
              <a:lnSpc>
                <a:spcPct val="110000"/>
              </a:lnSpc>
            </a:pPr>
            <a:r>
              <a:rPr lang="ja-JP" altLang="en-US"/>
              <a:t>使えん。</a:t>
            </a:r>
            <a:endParaRPr lang="en-US" altLang="ja-JP" dirty="0"/>
          </a:p>
          <a:p>
            <a:pPr>
              <a:lnSpc>
                <a:spcPct val="110000"/>
              </a:lnSpc>
            </a:pPr>
            <a:r>
              <a:rPr lang="ja-JP" altLang="en-US"/>
              <a:t>構成も</a:t>
            </a:r>
            <a:r>
              <a:rPr lang="en-US" altLang="ja-JP" dirty="0" err="1"/>
              <a:t>spec.md</a:t>
            </a:r>
            <a:r>
              <a:rPr lang="ja-JP" altLang="en-US"/>
              <a:t>などに書く必要がある。</a:t>
            </a:r>
            <a:endParaRPr lang="en-US" altLang="ja-JP" dirty="0"/>
          </a:p>
          <a:p>
            <a:pPr lvl="1">
              <a:lnSpc>
                <a:spcPct val="110000"/>
              </a:lnSpc>
            </a:pPr>
            <a:r>
              <a:rPr lang="ja-JP" altLang="en-US"/>
              <a:t>今回は、作って欲しいファイルをその都度指定した。</a:t>
            </a:r>
            <a:endParaRPr lang="en-US" altLang="ja-JP" dirty="0"/>
          </a:p>
          <a:p>
            <a:endParaRPr kumimoji="1" lang="ja-JP" altLang="en-US"/>
          </a:p>
        </p:txBody>
      </p:sp>
    </p:spTree>
    <p:extLst>
      <p:ext uri="{BB962C8B-B14F-4D97-AF65-F5344CB8AC3E}">
        <p14:creationId xmlns:p14="http://schemas.microsoft.com/office/powerpoint/2010/main" val="2865268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7DD876-0632-C412-47DA-9C19307BA4FF}"/>
              </a:ext>
            </a:extLst>
          </p:cNvPr>
          <p:cNvSpPr>
            <a:spLocks noGrp="1"/>
          </p:cNvSpPr>
          <p:nvPr>
            <p:ph type="title"/>
          </p:nvPr>
        </p:nvSpPr>
        <p:spPr/>
        <p:txBody>
          <a:bodyPr/>
          <a:lstStyle/>
          <a:p>
            <a:r>
              <a:rPr lang="en-US" altLang="ja-JP" dirty="0"/>
              <a:t>HTML</a:t>
            </a:r>
            <a:r>
              <a:rPr lang="ja-JP" altLang="en-US"/>
              <a:t>の構造化は難しい。</a:t>
            </a:r>
            <a:endParaRPr kumimoji="1" lang="ja-JP" altLang="en-US"/>
          </a:p>
        </p:txBody>
      </p:sp>
      <p:sp>
        <p:nvSpPr>
          <p:cNvPr id="3" name="コンテンツ プレースホルダー 2">
            <a:extLst>
              <a:ext uri="{FF2B5EF4-FFF2-40B4-BE49-F238E27FC236}">
                <a16:creationId xmlns:a16="http://schemas.microsoft.com/office/drawing/2014/main" id="{C35A7534-9E1D-A542-3B25-DAACF0E87812}"/>
              </a:ext>
            </a:extLst>
          </p:cNvPr>
          <p:cNvSpPr>
            <a:spLocks noGrp="1"/>
          </p:cNvSpPr>
          <p:nvPr>
            <p:ph idx="1"/>
          </p:nvPr>
        </p:nvSpPr>
        <p:spPr/>
        <p:txBody>
          <a:bodyPr>
            <a:normAutofit fontScale="70000" lnSpcReduction="20000"/>
          </a:bodyPr>
          <a:lstStyle/>
          <a:p>
            <a:pPr>
              <a:lnSpc>
                <a:spcPct val="120000"/>
              </a:lnSpc>
            </a:pPr>
            <a:r>
              <a:rPr kumimoji="1" lang="ja-JP" altLang="en-US"/>
              <a:t>異なるページを同じ構造にするのは</a:t>
            </a:r>
            <a:r>
              <a:rPr kumimoji="1" lang="en-US" altLang="ja-JP" dirty="0"/>
              <a:t>AI</a:t>
            </a:r>
            <a:r>
              <a:rPr kumimoji="1" lang="ja-JP" altLang="en-US"/>
              <a:t>に頼るだけでは難しい。</a:t>
            </a:r>
            <a:endParaRPr kumimoji="1" lang="en-US" altLang="ja-JP" dirty="0"/>
          </a:p>
          <a:p>
            <a:pPr lvl="1">
              <a:lnSpc>
                <a:spcPct val="120000"/>
              </a:lnSpc>
            </a:pPr>
            <a:r>
              <a:rPr lang="ja-JP" altLang="en-US"/>
              <a:t>いくら指示しても同じ構造にはならない。</a:t>
            </a:r>
            <a:endParaRPr lang="en-US" altLang="ja-JP" dirty="0"/>
          </a:p>
          <a:p>
            <a:pPr lvl="1">
              <a:lnSpc>
                <a:spcPct val="120000"/>
              </a:lnSpc>
            </a:pPr>
            <a:r>
              <a:rPr kumimoji="1" lang="ja-JP" altLang="en-US"/>
              <a:t>指示を重ねるたびにちょっとずつズレが大きくなる。</a:t>
            </a:r>
            <a:endParaRPr kumimoji="1" lang="en-US" altLang="ja-JP" dirty="0"/>
          </a:p>
          <a:p>
            <a:pPr>
              <a:lnSpc>
                <a:spcPct val="120000"/>
              </a:lnSpc>
            </a:pPr>
            <a:r>
              <a:rPr kumimoji="1" lang="ja-JP" altLang="en-US"/>
              <a:t>構造化を強制する何らかの仕組みが必要である。</a:t>
            </a:r>
            <a:endParaRPr kumimoji="1" lang="en-US" altLang="ja-JP" dirty="0"/>
          </a:p>
          <a:p>
            <a:pPr lvl="1">
              <a:lnSpc>
                <a:spcPct val="120000"/>
              </a:lnSpc>
            </a:pPr>
            <a:r>
              <a:rPr lang="ja-JP" altLang="en-US"/>
              <a:t>今回は、</a:t>
            </a:r>
            <a:r>
              <a:rPr lang="en-US" altLang="ja-JP" dirty="0"/>
              <a:t>SSG</a:t>
            </a:r>
            <a:r>
              <a:rPr lang="ja-JP" altLang="en-US"/>
              <a:t>（</a:t>
            </a:r>
            <a:r>
              <a:rPr lang="en-US" altLang="ja-JP" dirty="0"/>
              <a:t>Hugo</a:t>
            </a:r>
            <a:r>
              <a:rPr lang="ja-JP" altLang="en-US"/>
              <a:t>）を使って</a:t>
            </a:r>
            <a:r>
              <a:rPr lang="en-US" altLang="ja-JP" dirty="0"/>
              <a:t>Gemini</a:t>
            </a:r>
            <a:r>
              <a:rPr lang="ja-JP" altLang="en-US"/>
              <a:t>にデザインを作ってもらった。</a:t>
            </a:r>
            <a:endParaRPr lang="en-US" altLang="ja-JP" dirty="0"/>
          </a:p>
          <a:p>
            <a:pPr lvl="1">
              <a:lnSpc>
                <a:spcPct val="120000"/>
              </a:lnSpc>
            </a:pPr>
            <a:r>
              <a:rPr kumimoji="1" lang="en-US" altLang="ja-JP" dirty="0" err="1"/>
              <a:t>TailwindCSS</a:t>
            </a:r>
            <a:r>
              <a:rPr kumimoji="1" lang="ja-JP" altLang="en-US"/>
              <a:t>を使った。</a:t>
            </a:r>
            <a:endParaRPr kumimoji="1" lang="en-US" altLang="ja-JP" dirty="0"/>
          </a:p>
        </p:txBody>
      </p:sp>
    </p:spTree>
    <p:extLst>
      <p:ext uri="{BB962C8B-B14F-4D97-AF65-F5344CB8AC3E}">
        <p14:creationId xmlns:p14="http://schemas.microsoft.com/office/powerpoint/2010/main" val="25913590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0FF640-B1D0-0E3E-4159-8BADE85712DF}"/>
              </a:ext>
            </a:extLst>
          </p:cNvPr>
          <p:cNvSpPr>
            <a:spLocks noGrp="1"/>
          </p:cNvSpPr>
          <p:nvPr>
            <p:ph type="title"/>
          </p:nvPr>
        </p:nvSpPr>
        <p:spPr>
          <a:xfrm>
            <a:off x="838199" y="365125"/>
            <a:ext cx="11229753" cy="1325563"/>
          </a:xfrm>
        </p:spPr>
        <p:txBody>
          <a:bodyPr/>
          <a:lstStyle/>
          <a:p>
            <a:r>
              <a:rPr kumimoji="1" lang="ja-JP" altLang="en-US"/>
              <a:t>古いしきたりに縛られている</a:t>
            </a:r>
          </a:p>
        </p:txBody>
      </p:sp>
      <p:sp>
        <p:nvSpPr>
          <p:cNvPr id="3" name="コンテンツ プレースホルダー 2">
            <a:extLst>
              <a:ext uri="{FF2B5EF4-FFF2-40B4-BE49-F238E27FC236}">
                <a16:creationId xmlns:a16="http://schemas.microsoft.com/office/drawing/2014/main" id="{2C1E19F7-1CB7-E5EB-8578-0345FAF1ECA6}"/>
              </a:ext>
            </a:extLst>
          </p:cNvPr>
          <p:cNvSpPr>
            <a:spLocks noGrp="1"/>
          </p:cNvSpPr>
          <p:nvPr>
            <p:ph idx="1"/>
          </p:nvPr>
        </p:nvSpPr>
        <p:spPr/>
        <p:txBody>
          <a:bodyPr>
            <a:normAutofit fontScale="85000" lnSpcReduction="10000"/>
          </a:bodyPr>
          <a:lstStyle/>
          <a:p>
            <a:pPr>
              <a:lnSpc>
                <a:spcPct val="110000"/>
              </a:lnSpc>
            </a:pPr>
            <a:r>
              <a:rPr lang="ja-JP" altLang="en-US"/>
              <a:t>拡張子が付いている</a:t>
            </a:r>
            <a:r>
              <a:rPr lang="en-US" altLang="ja-JP" dirty="0"/>
              <a:t>URL</a:t>
            </a:r>
            <a:r>
              <a:rPr lang="ja-JP" altLang="en-US"/>
              <a:t>は</a:t>
            </a:r>
            <a:r>
              <a:rPr lang="en-US" altLang="ja-JP" dirty="0"/>
              <a:t>ugly </a:t>
            </a:r>
            <a:r>
              <a:rPr lang="en-US" altLang="ja-JP" dirty="0" err="1"/>
              <a:t>url</a:t>
            </a:r>
            <a:r>
              <a:rPr lang="ja-JP" altLang="en-US"/>
              <a:t>と呼ばれる。</a:t>
            </a:r>
            <a:endParaRPr lang="en-US" altLang="ja-JP" dirty="0"/>
          </a:p>
          <a:p>
            <a:pPr lvl="1">
              <a:lnSpc>
                <a:spcPct val="110000"/>
              </a:lnSpc>
            </a:pPr>
            <a:r>
              <a:rPr kumimoji="1" lang="ja-JP" altLang="en-US"/>
              <a:t>是非は置いておいて、そう呼ばれる。</a:t>
            </a:r>
            <a:endParaRPr kumimoji="1" lang="en-US" altLang="ja-JP" dirty="0"/>
          </a:p>
          <a:p>
            <a:pPr>
              <a:lnSpc>
                <a:spcPct val="110000"/>
              </a:lnSpc>
            </a:pPr>
            <a:r>
              <a:rPr lang="en-US" altLang="ja-JP" dirty="0"/>
              <a:t>Gemini</a:t>
            </a:r>
            <a:r>
              <a:rPr lang="ja-JP" altLang="en-US"/>
              <a:t>は何かにつけて拡張子をつけようとしてくる。</a:t>
            </a:r>
            <a:endParaRPr lang="en-US" altLang="ja-JP" dirty="0"/>
          </a:p>
          <a:p>
            <a:pPr lvl="1">
              <a:lnSpc>
                <a:spcPct val="110000"/>
              </a:lnSpc>
            </a:pPr>
            <a:r>
              <a:rPr lang="ja-JP" altLang="en-US"/>
              <a:t>拡張子をつけなくて良いと何度も指示したが、その時は削除するものの、次の指示のときに「付けておきますね」と拡張子を付けてくる。</a:t>
            </a:r>
            <a:endParaRPr kumimoji="1" lang="ja-JP" altLang="en-US"/>
          </a:p>
        </p:txBody>
      </p:sp>
    </p:spTree>
    <p:extLst>
      <p:ext uri="{BB962C8B-B14F-4D97-AF65-F5344CB8AC3E}">
        <p14:creationId xmlns:p14="http://schemas.microsoft.com/office/powerpoint/2010/main" val="2711018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2D2718-B55D-77FB-A6CC-B7F6DF773DE1}"/>
              </a:ext>
            </a:extLst>
          </p:cNvPr>
          <p:cNvSpPr>
            <a:spLocks noGrp="1"/>
          </p:cNvSpPr>
          <p:nvPr>
            <p:ph type="title"/>
          </p:nvPr>
        </p:nvSpPr>
        <p:spPr/>
        <p:txBody>
          <a:bodyPr/>
          <a:lstStyle/>
          <a:p>
            <a:r>
              <a:rPr lang="ja-JP" altLang="en-US"/>
              <a:t>食堂の営業時間の</a:t>
            </a:r>
            <a:r>
              <a:rPr lang="en-US" altLang="ja-JP" dirty="0"/>
              <a:t>PDF</a:t>
            </a:r>
            <a:r>
              <a:rPr lang="ja-JP" altLang="en-US"/>
              <a:t>は解析が難しい。</a:t>
            </a:r>
            <a:endParaRPr kumimoji="1" lang="ja-JP" altLang="en-US"/>
          </a:p>
        </p:txBody>
      </p:sp>
      <p:sp>
        <p:nvSpPr>
          <p:cNvPr id="3" name="コンテンツ プレースホルダー 2">
            <a:extLst>
              <a:ext uri="{FF2B5EF4-FFF2-40B4-BE49-F238E27FC236}">
                <a16:creationId xmlns:a16="http://schemas.microsoft.com/office/drawing/2014/main" id="{465368FB-C20E-B542-FDEB-9366835FB508}"/>
              </a:ext>
            </a:extLst>
          </p:cNvPr>
          <p:cNvSpPr>
            <a:spLocks noGrp="1"/>
          </p:cNvSpPr>
          <p:nvPr>
            <p:ph idx="1"/>
          </p:nvPr>
        </p:nvSpPr>
        <p:spPr/>
        <p:txBody>
          <a:bodyPr>
            <a:normAutofit fontScale="85000" lnSpcReduction="10000"/>
          </a:bodyPr>
          <a:lstStyle/>
          <a:p>
            <a:r>
              <a:rPr lang="en-US" altLang="ja-JP" dirty="0"/>
              <a:t>PDF</a:t>
            </a:r>
            <a:r>
              <a:rPr lang="ja-JP" altLang="en-US"/>
              <a:t>中の表を解析するライブラリは希少である。</a:t>
            </a:r>
            <a:endParaRPr lang="en-US" altLang="ja-JP" dirty="0"/>
          </a:p>
          <a:p>
            <a:r>
              <a:rPr kumimoji="1" lang="ja-JP" altLang="en-US"/>
              <a:t>食堂の</a:t>
            </a:r>
            <a:r>
              <a:rPr kumimoji="1" lang="en-US" altLang="ja-JP" dirty="0"/>
              <a:t>PDF</a:t>
            </a:r>
            <a:r>
              <a:rPr kumimoji="1" lang="ja-JP" altLang="en-US"/>
              <a:t>をダウンロードし、各種</a:t>
            </a:r>
            <a:r>
              <a:rPr kumimoji="1" lang="en-US" altLang="ja-JP" dirty="0"/>
              <a:t>PDF</a:t>
            </a:r>
            <a:r>
              <a:rPr kumimoji="1" lang="ja-JP" altLang="en-US"/>
              <a:t>解析ライブラリを比較した。</a:t>
            </a:r>
            <a:endParaRPr kumimoji="1" lang="en-US" altLang="ja-JP" dirty="0"/>
          </a:p>
          <a:p>
            <a:pPr lvl="1"/>
            <a:r>
              <a:rPr lang="ja-JP" altLang="en-US"/>
              <a:t>いろんな言語のものを</a:t>
            </a:r>
            <a:r>
              <a:rPr lang="en-US" altLang="ja-JP" dirty="0"/>
              <a:t>Gemini</a:t>
            </a:r>
            <a:r>
              <a:rPr lang="ja-JP" altLang="en-US"/>
              <a:t>に作ってもらって解析結果を確認した。</a:t>
            </a:r>
            <a:endParaRPr lang="en-US" altLang="ja-JP" dirty="0"/>
          </a:p>
          <a:p>
            <a:pPr lvl="1"/>
            <a:r>
              <a:rPr kumimoji="1" lang="en-US" altLang="ja-JP" dirty="0" err="1"/>
              <a:t>pdfplumber</a:t>
            </a:r>
            <a:r>
              <a:rPr kumimoji="1" lang="ja-JP" altLang="en-US"/>
              <a:t>（</a:t>
            </a:r>
            <a:r>
              <a:rPr kumimoji="1" lang="en-US" altLang="ja-JP" dirty="0"/>
              <a:t>Python</a:t>
            </a:r>
            <a:r>
              <a:rPr kumimoji="1" lang="ja-JP" altLang="en-US"/>
              <a:t>）最強。</a:t>
            </a:r>
            <a:endParaRPr kumimoji="1" lang="en-US" altLang="ja-JP" dirty="0"/>
          </a:p>
          <a:p>
            <a:pPr lvl="1"/>
            <a:r>
              <a:rPr kumimoji="1" lang="ja-JP" altLang="en-US"/>
              <a:t>表が読めない。表のセル内にあるものをセルの中であると認識できないライブラリが多い。</a:t>
            </a:r>
          </a:p>
        </p:txBody>
      </p:sp>
    </p:spTree>
    <p:extLst>
      <p:ext uri="{BB962C8B-B14F-4D97-AF65-F5344CB8AC3E}">
        <p14:creationId xmlns:p14="http://schemas.microsoft.com/office/powerpoint/2010/main" val="16261454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8B5DF3-9F7D-1BC7-09C0-ACC7361A19AF}"/>
              </a:ext>
            </a:extLst>
          </p:cNvPr>
          <p:cNvSpPr>
            <a:spLocks noGrp="1"/>
          </p:cNvSpPr>
          <p:nvPr>
            <p:ph type="title"/>
          </p:nvPr>
        </p:nvSpPr>
        <p:spPr/>
        <p:txBody>
          <a:bodyPr/>
          <a:lstStyle/>
          <a:p>
            <a:r>
              <a:rPr lang="ja-JP" altLang="en-US" sz="5400"/>
              <a:t>相談のつもりで質問すると、</a:t>
            </a:r>
            <a:br>
              <a:rPr lang="en-US" altLang="ja-JP" sz="5400" dirty="0"/>
            </a:br>
            <a:r>
              <a:rPr lang="ja-JP" altLang="en-US" sz="5400"/>
              <a:t>いきなりコードを変更し始める。</a:t>
            </a:r>
            <a:endParaRPr kumimoji="1" lang="ja-JP" altLang="en-US" sz="5400"/>
          </a:p>
        </p:txBody>
      </p:sp>
      <p:sp>
        <p:nvSpPr>
          <p:cNvPr id="3" name="コンテンツ プレースホルダー 2">
            <a:extLst>
              <a:ext uri="{FF2B5EF4-FFF2-40B4-BE49-F238E27FC236}">
                <a16:creationId xmlns:a16="http://schemas.microsoft.com/office/drawing/2014/main" id="{52717824-062C-6EC5-F16D-7E5EBF3D577C}"/>
              </a:ext>
            </a:extLst>
          </p:cNvPr>
          <p:cNvSpPr>
            <a:spLocks noGrp="1"/>
          </p:cNvSpPr>
          <p:nvPr>
            <p:ph idx="1"/>
          </p:nvPr>
        </p:nvSpPr>
        <p:spPr/>
        <p:txBody>
          <a:bodyPr>
            <a:normAutofit fontScale="77500" lnSpcReduction="20000"/>
          </a:bodyPr>
          <a:lstStyle/>
          <a:p>
            <a:pPr>
              <a:lnSpc>
                <a:spcPct val="120000"/>
              </a:lnSpc>
            </a:pPr>
            <a:r>
              <a:rPr kumimoji="1" lang="ja-JP" altLang="en-US"/>
              <a:t>その結果、壊れる。</a:t>
            </a:r>
            <a:endParaRPr kumimoji="1" lang="en-US" altLang="ja-JP" dirty="0"/>
          </a:p>
          <a:p>
            <a:pPr>
              <a:lnSpc>
                <a:spcPct val="120000"/>
              </a:lnSpc>
            </a:pPr>
            <a:r>
              <a:rPr lang="ja-JP" altLang="en-US"/>
              <a:t>元に戻せと怒ると、戻しましたと言うも、違うコードになっている。</a:t>
            </a:r>
            <a:endParaRPr lang="en-US" altLang="ja-JP" dirty="0"/>
          </a:p>
          <a:p>
            <a:pPr>
              <a:lnSpc>
                <a:spcPct val="120000"/>
              </a:lnSpc>
            </a:pPr>
            <a:r>
              <a:rPr lang="ja-JP" altLang="en-US"/>
              <a:t>コミットを指示するようになった。</a:t>
            </a:r>
            <a:endParaRPr lang="en-US" altLang="ja-JP" dirty="0"/>
          </a:p>
          <a:p>
            <a:pPr lvl="1">
              <a:lnSpc>
                <a:spcPct val="120000"/>
              </a:lnSpc>
            </a:pPr>
            <a:r>
              <a:rPr kumimoji="1" lang="ja-JP" altLang="en-US"/>
              <a:t>ただ、これもやりすぎると勝手にコミットするし、</a:t>
            </a:r>
            <a:r>
              <a:rPr kumimoji="1" lang="en-US" altLang="ja-JP" dirty="0"/>
              <a:t>push</a:t>
            </a:r>
            <a:r>
              <a:rPr kumimoji="1" lang="ja-JP" altLang="en-US"/>
              <a:t>も</a:t>
            </a:r>
            <a:r>
              <a:rPr lang="ja-JP" altLang="en-US"/>
              <a:t>勝手に</a:t>
            </a:r>
            <a:r>
              <a:rPr kumimoji="1" lang="ja-JP" altLang="en-US"/>
              <a:t>し始める。</a:t>
            </a:r>
            <a:endParaRPr kumimoji="1" lang="en-US" altLang="ja-JP" dirty="0"/>
          </a:p>
          <a:p>
            <a:pPr lvl="2">
              <a:lnSpc>
                <a:spcPct val="120000"/>
              </a:lnSpc>
            </a:pPr>
            <a:r>
              <a:rPr kumimoji="1" lang="ja-JP" altLang="en-US"/>
              <a:t>「</a:t>
            </a:r>
            <a:r>
              <a:rPr kumimoji="1" lang="en-US" altLang="ja-JP" dirty="0"/>
              <a:t>Yes, allow always ...</a:t>
            </a:r>
            <a:r>
              <a:rPr lang="ja-JP" altLang="en-US"/>
              <a:t>」をやるなと言うことなんだが。。。</a:t>
            </a:r>
            <a:endParaRPr kumimoji="1" lang="en-US" altLang="ja-JP" dirty="0"/>
          </a:p>
        </p:txBody>
      </p:sp>
    </p:spTree>
    <p:extLst>
      <p:ext uri="{BB962C8B-B14F-4D97-AF65-F5344CB8AC3E}">
        <p14:creationId xmlns:p14="http://schemas.microsoft.com/office/powerpoint/2010/main" val="6814408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2F8CEA-C2CA-995E-418F-7F56ABF52787}"/>
              </a:ext>
            </a:extLst>
          </p:cNvPr>
          <p:cNvSpPr>
            <a:spLocks noGrp="1"/>
          </p:cNvSpPr>
          <p:nvPr>
            <p:ph type="title"/>
          </p:nvPr>
        </p:nvSpPr>
        <p:spPr/>
        <p:txBody>
          <a:bodyPr/>
          <a:lstStyle/>
          <a:p>
            <a:r>
              <a:rPr lang="en-US" altLang="ja-JP" sz="4800" dirty="0"/>
              <a:t>Vibe Coding</a:t>
            </a:r>
            <a:br>
              <a:rPr lang="en-US" altLang="ja-JP" sz="4800" dirty="0"/>
            </a:br>
            <a:r>
              <a:rPr kumimoji="1" lang="ja-JP" altLang="en-US"/>
              <a:t>得られた知見</a:t>
            </a:r>
            <a:endParaRPr kumimoji="1" lang="ja-JP" altLang="en-US" sz="4800"/>
          </a:p>
        </p:txBody>
      </p:sp>
      <p:sp>
        <p:nvSpPr>
          <p:cNvPr id="3" name="コンテンツ プレースホルダー 2">
            <a:extLst>
              <a:ext uri="{FF2B5EF4-FFF2-40B4-BE49-F238E27FC236}">
                <a16:creationId xmlns:a16="http://schemas.microsoft.com/office/drawing/2014/main" id="{F643EFC5-9D6B-1606-D613-497F4AD5242A}"/>
              </a:ext>
            </a:extLst>
          </p:cNvPr>
          <p:cNvSpPr>
            <a:spLocks noGrp="1"/>
          </p:cNvSpPr>
          <p:nvPr>
            <p:ph idx="1"/>
          </p:nvPr>
        </p:nvSpPr>
        <p:spPr/>
        <p:txBody>
          <a:bodyPr>
            <a:normAutofit fontScale="85000" lnSpcReduction="10000"/>
          </a:bodyPr>
          <a:lstStyle/>
          <a:p>
            <a:pPr>
              <a:lnSpc>
                <a:spcPct val="120000"/>
              </a:lnSpc>
            </a:pPr>
            <a:r>
              <a:rPr kumimoji="1" lang="en-US" altLang="ja-JP" dirty="0"/>
              <a:t>AI</a:t>
            </a:r>
            <a:r>
              <a:rPr kumimoji="1" lang="ja-JP" altLang="en-US"/>
              <a:t>はそれなりにコードが書ける。</a:t>
            </a:r>
            <a:endParaRPr kumimoji="1" lang="en-US" altLang="ja-JP" dirty="0"/>
          </a:p>
          <a:p>
            <a:pPr>
              <a:lnSpc>
                <a:spcPct val="120000"/>
              </a:lnSpc>
            </a:pPr>
            <a:r>
              <a:rPr lang="ja-JP" altLang="en-US"/>
              <a:t>見栄え重視の場合はそれなりのものができる。</a:t>
            </a:r>
            <a:endParaRPr lang="en-US" altLang="ja-JP" dirty="0"/>
          </a:p>
          <a:p>
            <a:pPr>
              <a:lnSpc>
                <a:spcPct val="120000"/>
              </a:lnSpc>
            </a:pPr>
            <a:r>
              <a:rPr kumimoji="1" lang="ja-JP" altLang="en-US"/>
              <a:t>ただ、全体的な設計ができない。</a:t>
            </a:r>
            <a:endParaRPr kumimoji="1" lang="en-US" altLang="ja-JP" dirty="0"/>
          </a:p>
          <a:p>
            <a:pPr lvl="1">
              <a:lnSpc>
                <a:spcPct val="120000"/>
              </a:lnSpc>
            </a:pPr>
            <a:r>
              <a:rPr lang="ja-JP" altLang="en-US"/>
              <a:t>人が補うか、</a:t>
            </a:r>
            <a:r>
              <a:rPr lang="en-US" altLang="ja-JP" dirty="0"/>
              <a:t>AI</a:t>
            </a:r>
            <a:r>
              <a:rPr lang="ja-JP" altLang="en-US"/>
              <a:t>の進化を待つ必要がある。</a:t>
            </a:r>
            <a:endParaRPr lang="en-US" altLang="ja-JP" dirty="0"/>
          </a:p>
          <a:p>
            <a:pPr lvl="1">
              <a:lnSpc>
                <a:spcPct val="120000"/>
              </a:lnSpc>
            </a:pPr>
            <a:r>
              <a:rPr kumimoji="1" lang="en-US" altLang="ja-JP" dirty="0"/>
              <a:t>Agentic Engineering</a:t>
            </a:r>
            <a:r>
              <a:rPr kumimoji="1" lang="ja-JP" altLang="en-US"/>
              <a:t>は札束で殴る必要があるのかな？</a:t>
            </a:r>
            <a:endParaRPr kumimoji="1" lang="en-US" altLang="ja-JP" dirty="0"/>
          </a:p>
        </p:txBody>
      </p:sp>
    </p:spTree>
    <p:extLst>
      <p:ext uri="{BB962C8B-B14F-4D97-AF65-F5344CB8AC3E}">
        <p14:creationId xmlns:p14="http://schemas.microsoft.com/office/powerpoint/2010/main" val="21487403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F32B8A-567C-DB10-9C4E-BCC348462471}"/>
              </a:ext>
            </a:extLst>
          </p:cNvPr>
          <p:cNvSpPr>
            <a:spLocks noGrp="1"/>
          </p:cNvSpPr>
          <p:nvPr>
            <p:ph type="title"/>
          </p:nvPr>
        </p:nvSpPr>
        <p:spPr/>
        <p:txBody>
          <a:bodyPr/>
          <a:lstStyle/>
          <a:p>
            <a:r>
              <a:rPr kumimoji="1" lang="ja-JP" altLang="en-US"/>
              <a:t>得られた知見</a:t>
            </a:r>
            <a:br>
              <a:rPr kumimoji="1" lang="en-US" altLang="ja-JP" dirty="0"/>
            </a:br>
            <a:r>
              <a:rPr lang="en-US" altLang="ja-JP" sz="4800" dirty="0"/>
              <a:t>AI</a:t>
            </a:r>
            <a:r>
              <a:rPr lang="ja-JP" altLang="en-US" sz="4800"/>
              <a:t>に負けないためには</a:t>
            </a:r>
            <a:endParaRPr kumimoji="1" lang="ja-JP" altLang="en-US" sz="4800"/>
          </a:p>
        </p:txBody>
      </p:sp>
      <p:sp>
        <p:nvSpPr>
          <p:cNvPr id="3" name="コンテンツ プレースホルダー 2">
            <a:extLst>
              <a:ext uri="{FF2B5EF4-FFF2-40B4-BE49-F238E27FC236}">
                <a16:creationId xmlns:a16="http://schemas.microsoft.com/office/drawing/2014/main" id="{6C0AF597-95E3-4CCE-796B-2D20958D155A}"/>
              </a:ext>
            </a:extLst>
          </p:cNvPr>
          <p:cNvSpPr>
            <a:spLocks noGrp="1"/>
          </p:cNvSpPr>
          <p:nvPr>
            <p:ph idx="1"/>
          </p:nvPr>
        </p:nvSpPr>
        <p:spPr/>
        <p:txBody>
          <a:bodyPr>
            <a:normAutofit fontScale="92500"/>
          </a:bodyPr>
          <a:lstStyle/>
          <a:p>
            <a:r>
              <a:rPr kumimoji="1" lang="ja-JP" altLang="en-US"/>
              <a:t>全体的な構造を把握し、設計しよう。</a:t>
            </a:r>
            <a:endParaRPr kumimoji="1" lang="en-US" altLang="ja-JP" dirty="0"/>
          </a:p>
          <a:p>
            <a:r>
              <a:rPr kumimoji="1" lang="ja-JP" altLang="en-US"/>
              <a:t>最新技術を知ろう。</a:t>
            </a:r>
            <a:endParaRPr kumimoji="1" lang="en-US" altLang="ja-JP" dirty="0"/>
          </a:p>
          <a:p>
            <a:pPr lvl="1"/>
            <a:r>
              <a:rPr kumimoji="1" lang="ja-JP" altLang="en-US"/>
              <a:t>詳細までは知らなくても良い。</a:t>
            </a:r>
            <a:endParaRPr kumimoji="1" lang="en-US" altLang="ja-JP" dirty="0"/>
          </a:p>
          <a:p>
            <a:pPr lvl="2"/>
            <a:r>
              <a:rPr lang="ja-JP" altLang="en-US"/>
              <a:t>必要なときに</a:t>
            </a:r>
            <a:r>
              <a:rPr lang="en-US" altLang="ja-JP" dirty="0"/>
              <a:t>AI</a:t>
            </a:r>
            <a:r>
              <a:rPr lang="ja-JP" altLang="en-US"/>
              <a:t>に説明させよう。</a:t>
            </a:r>
            <a:endParaRPr lang="en-US" altLang="ja-JP" dirty="0"/>
          </a:p>
          <a:p>
            <a:r>
              <a:rPr lang="ja-JP" altLang="en-US"/>
              <a:t>綺麗なシステムとはどんなものかを知ろう。</a:t>
            </a:r>
            <a:endParaRPr lang="en-US" altLang="ja-JP" dirty="0"/>
          </a:p>
          <a:p>
            <a:pPr lvl="1"/>
            <a:r>
              <a:rPr kumimoji="1" lang="ja-JP" altLang="en-US"/>
              <a:t>構成の是非について</a:t>
            </a:r>
            <a:r>
              <a:rPr kumimoji="1" lang="en-US" altLang="ja-JP" dirty="0"/>
              <a:t>AI</a:t>
            </a:r>
            <a:r>
              <a:rPr kumimoji="1" lang="ja-JP" altLang="en-US"/>
              <a:t>と相談しよう。</a:t>
            </a:r>
          </a:p>
        </p:txBody>
      </p:sp>
    </p:spTree>
    <p:extLst>
      <p:ext uri="{BB962C8B-B14F-4D97-AF65-F5344CB8AC3E}">
        <p14:creationId xmlns:p14="http://schemas.microsoft.com/office/powerpoint/2010/main" val="224900895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kumimoji="1">
            <a:latin typeface="Meiryo" panose="020B0604030504040204" pitchFamily="34" charset="-128"/>
            <a:ea typeface="Meiryo" panose="020B0604030504040204" pitchFamily="34" charset="-128"/>
          </a:defRPr>
        </a:defPPr>
      </a:lstStyle>
    </a:txDef>
  </a:objectDefaults>
  <a:extraClrSchemeLst/>
  <a:extLst>
    <a:ext uri="{05A4C25C-085E-4340-85A3-A5531E510DB2}">
      <thm15:themeFamily xmlns:thm15="http://schemas.microsoft.com/office/thememl/2012/main" name="template" id="{54D23E05-3D04-0045-9BFD-E82D0C845048}" vid="{C811125C-2B48-174F-892B-46EB732E7EF9}"/>
    </a:ext>
  </a:extLst>
</a:theme>
</file>

<file path=docProps/app.xml><?xml version="1.0" encoding="utf-8"?>
<Properties xmlns="http://schemas.openxmlformats.org/officeDocument/2006/extended-properties" xmlns:vt="http://schemas.openxmlformats.org/officeDocument/2006/docPropsVTypes">
  <Template>Office テーマ</Template>
  <TotalTime>108</TotalTime>
  <Words>891</Words>
  <Application>Microsoft Macintosh PowerPoint</Application>
  <PresentationFormat>ワイド画面</PresentationFormat>
  <Paragraphs>91</Paragraphs>
  <Slides>14</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14</vt:i4>
      </vt:variant>
    </vt:vector>
  </HeadingPairs>
  <TitlesOfParts>
    <vt:vector size="17" baseType="lpstr">
      <vt:lpstr>Meiryo</vt:lpstr>
      <vt:lpstr>Arial</vt:lpstr>
      <vt:lpstr>Office テーマ</vt:lpstr>
      <vt:lpstr>Kyosan-eats to Welfare-Time</vt:lpstr>
      <vt:lpstr>Kyosan-eats</vt:lpstr>
      <vt:lpstr>特研活動で作成してもらった</vt:lpstr>
      <vt:lpstr>問題点</vt:lpstr>
      <vt:lpstr>理想</vt:lpstr>
      <vt:lpstr>Welfare-Time</vt:lpstr>
      <vt:lpstr>Vibe Coding つまづきどころ</vt:lpstr>
      <vt:lpstr>システム設計ができない。</vt:lpstr>
      <vt:lpstr>HTMLの構造化は難しい。</vt:lpstr>
      <vt:lpstr>古いしきたりに縛られている</vt:lpstr>
      <vt:lpstr>食堂の営業時間のPDFは解析が難しい。</vt:lpstr>
      <vt:lpstr>相談のつもりで質問すると、 いきなりコードを変更し始める。</vt:lpstr>
      <vt:lpstr>Vibe Coding 得られた知見</vt:lpstr>
      <vt:lpstr>得られた知見 AIに負けないためには</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TAMADA HARUAKI</dc:creator>
  <cp:lastModifiedBy>TAMADA HARUAKI</cp:lastModifiedBy>
  <cp:revision>75</cp:revision>
  <dcterms:created xsi:type="dcterms:W3CDTF">2026-06-10T10:58:40Z</dcterms:created>
  <dcterms:modified xsi:type="dcterms:W3CDTF">2026-06-10T12:47:11Z</dcterms:modified>
</cp:coreProperties>
</file>