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8" r:id="rId2"/>
    <p:sldId id="257" r:id="rId3"/>
    <p:sldId id="256" r:id="rId4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2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4151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EDA44-3EAA-FE30-2971-4F8EC7B46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DCF805-CD10-7DC4-34BF-CC3593217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91D885-2329-E546-03A6-DF613C928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0BCDF-41B9-BAF1-68A2-8FDE32712D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194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6BFC-AC2F-DE76-62F3-3A0471302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4">
            <a:extLst>
              <a:ext uri="{FF2B5EF4-FFF2-40B4-BE49-F238E27FC236}">
                <a16:creationId xmlns:a16="http://schemas.microsoft.com/office/drawing/2014/main" id="{CAA8CB8A-6B67-EC9B-49F4-5C9321A9720A}"/>
              </a:ext>
            </a:extLst>
          </p:cNvPr>
          <p:cNvSpPr/>
          <p:nvPr/>
        </p:nvSpPr>
        <p:spPr>
          <a:xfrm>
            <a:off x="201168" y="4261104"/>
            <a:ext cx="3506724" cy="3527982"/>
          </a:xfrm>
          <a:prstGeom prst="roundRect">
            <a:avLst>
              <a:gd name="adj" fmla="val 1565"/>
            </a:avLst>
          </a:prstGeom>
          <a:solidFill>
            <a:srgbClr val="E4D6BA"/>
          </a:solidFill>
          <a:ln/>
          <a:effectLst>
            <a:outerShdw blurRad="63500" dist="19050" dir="5400000" algn="bl" rotWithShape="0">
              <a:srgbClr val="9A92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6" name="Shape 35">
            <a:extLst>
              <a:ext uri="{FF2B5EF4-FFF2-40B4-BE49-F238E27FC236}">
                <a16:creationId xmlns:a16="http://schemas.microsoft.com/office/drawing/2014/main" id="{842E119D-D143-2F6E-F309-2C0ABC125E03}"/>
              </a:ext>
            </a:extLst>
          </p:cNvPr>
          <p:cNvSpPr/>
          <p:nvPr/>
        </p:nvSpPr>
        <p:spPr>
          <a:xfrm>
            <a:off x="244530" y="4842424"/>
            <a:ext cx="3420000" cy="6480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1D5624B7-3791-8BE0-30E9-1FD639FE0DD8}"/>
              </a:ext>
            </a:extLst>
          </p:cNvPr>
          <p:cNvSpPr/>
          <p:nvPr/>
        </p:nvSpPr>
        <p:spPr>
          <a:xfrm>
            <a:off x="0" y="0"/>
            <a:ext cx="7562088" cy="111556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7C9D16-41F6-8E25-6740-F9BAE6690515}"/>
              </a:ext>
            </a:extLst>
          </p:cNvPr>
          <p:cNvSpPr/>
          <p:nvPr/>
        </p:nvSpPr>
        <p:spPr>
          <a:xfrm>
            <a:off x="0" y="96429"/>
            <a:ext cx="7562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🍽️ Welfare TIME</a:t>
            </a:r>
            <a:endParaRPr lang="en-US" sz="3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BFB38C-6CFA-E4F9-9E3F-DD4F87FD7650}"/>
              </a:ext>
            </a:extLst>
          </p:cNvPr>
          <p:cNvSpPr/>
          <p:nvPr/>
        </p:nvSpPr>
        <p:spPr>
          <a:xfrm>
            <a:off x="0" y="593529"/>
            <a:ext cx="7562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「今日の学食、どこ開いてる？」に 1秒で答える Web サービス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BBB0760-BF16-FE6B-BFD0-ABECEB65D9C0}"/>
              </a:ext>
            </a:extLst>
          </p:cNvPr>
          <p:cNvSpPr/>
          <p:nvPr/>
        </p:nvSpPr>
        <p:spPr>
          <a:xfrm>
            <a:off x="0" y="859536"/>
            <a:ext cx="7562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6DCD4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Welfare Time &amp; Information for Modern Education ── 京都産業大学の食堂・コンビニ・キッチンカー営業情報ナビ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0F55F05-04D6-B021-EECD-6F673EB9C0D3}"/>
              </a:ext>
            </a:extLst>
          </p:cNvPr>
          <p:cNvSpPr/>
          <p:nvPr/>
        </p:nvSpPr>
        <p:spPr>
          <a:xfrm>
            <a:off x="201168" y="1225296"/>
            <a:ext cx="3506724" cy="1627632"/>
          </a:xfrm>
          <a:prstGeom prst="roundRect">
            <a:avLst>
              <a:gd name="adj" fmla="val 3371"/>
            </a:avLst>
          </a:prstGeom>
          <a:solidFill>
            <a:srgbClr val="E4D6BA"/>
          </a:solidFill>
          <a:ln/>
          <a:effectLst>
            <a:outerShdw blurRad="63500" dist="19050" dir="5400000" algn="bl" rotWithShape="0">
              <a:srgbClr val="9A92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B87472D-57FF-3B17-E547-2F7C574B8089}"/>
              </a:ext>
            </a:extLst>
          </p:cNvPr>
          <p:cNvSpPr/>
          <p:nvPr/>
        </p:nvSpPr>
        <p:spPr>
          <a:xfrm>
            <a:off x="310896" y="1316736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F2DB77D-C024-21A4-B448-A9CB904124EC}"/>
              </a:ext>
            </a:extLst>
          </p:cNvPr>
          <p:cNvSpPr/>
          <p:nvPr/>
        </p:nvSpPr>
        <p:spPr>
          <a:xfrm>
            <a:off x="310896" y="1307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🍽️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42B7D87-DE66-FFFD-6B2C-0319CB6DE2A7}"/>
              </a:ext>
            </a:extLst>
          </p:cNvPr>
          <p:cNvSpPr/>
          <p:nvPr/>
        </p:nvSpPr>
        <p:spPr>
          <a:xfrm>
            <a:off x="694944" y="1316736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Welfare TIME とは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2792707-E1FB-70B7-81FB-36092A935D19}"/>
              </a:ext>
            </a:extLst>
          </p:cNvPr>
          <p:cNvSpPr/>
          <p:nvPr/>
        </p:nvSpPr>
        <p:spPr>
          <a:xfrm>
            <a:off x="310896" y="1700784"/>
            <a:ext cx="3287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京都産業大学の食堂・コンビニ・ショップ・キッチンカーの</a:t>
            </a:r>
            <a:r>
              <a:rPr lang="en-US" sz="8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「今日の営業情報」</a:t>
            </a: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を 1 ページに集約した Web サービスです。毎朝 8 時ごろに自動更新され、現在時刻に合わせて営業状況を判定します。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BD9799C-4394-FF1B-4CB1-74948D17636D}"/>
              </a:ext>
            </a:extLst>
          </p:cNvPr>
          <p:cNvSpPr/>
          <p:nvPr/>
        </p:nvSpPr>
        <p:spPr>
          <a:xfrm>
            <a:off x="310896" y="2286000"/>
            <a:ext cx="1059180" cy="457200"/>
          </a:xfrm>
          <a:prstGeom prst="roundRect">
            <a:avLst>
              <a:gd name="adj" fmla="val 10000"/>
            </a:avLst>
          </a:prstGeom>
          <a:solidFill>
            <a:srgbClr val="CBE3C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399EE61-E6EB-2B3C-82DC-F0DE1C262869}"/>
              </a:ext>
            </a:extLst>
          </p:cNvPr>
          <p:cNvSpPr/>
          <p:nvPr/>
        </p:nvSpPr>
        <p:spPr>
          <a:xfrm>
            <a:off x="338328" y="2319252"/>
            <a:ext cx="100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2E6B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🟢 営業中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いま開いています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AD8B6A9-E741-56E5-0D86-9AF66F7FCF0E}"/>
              </a:ext>
            </a:extLst>
          </p:cNvPr>
          <p:cNvSpPr/>
          <p:nvPr/>
        </p:nvSpPr>
        <p:spPr>
          <a:xfrm>
            <a:off x="1424940" y="2286000"/>
            <a:ext cx="1059180" cy="457200"/>
          </a:xfrm>
          <a:prstGeom prst="roundRect">
            <a:avLst>
              <a:gd name="adj" fmla="val 10000"/>
            </a:avLst>
          </a:prstGeom>
          <a:solidFill>
            <a:srgbClr val="F1DFA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ECABFA0-FB3E-C43C-3317-9E3DDE006EC3}"/>
              </a:ext>
            </a:extLst>
          </p:cNvPr>
          <p:cNvSpPr/>
          <p:nvPr/>
        </p:nvSpPr>
        <p:spPr>
          <a:xfrm>
            <a:off x="1452372" y="2319252"/>
            <a:ext cx="100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8A6A12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🟡 準備中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開店前や未来の</a:t>
            </a:r>
            <a:b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</a:b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日付です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439C172-36F5-9756-F407-55A8C6017678}"/>
              </a:ext>
            </a:extLst>
          </p:cNvPr>
          <p:cNvSpPr/>
          <p:nvPr/>
        </p:nvSpPr>
        <p:spPr>
          <a:xfrm>
            <a:off x="2538984" y="2286000"/>
            <a:ext cx="1059180" cy="457200"/>
          </a:xfrm>
          <a:prstGeom prst="roundRect">
            <a:avLst>
              <a:gd name="adj" fmla="val 10000"/>
            </a:avLst>
          </a:prstGeom>
          <a:solidFill>
            <a:srgbClr val="CBDBE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3C9C143-2338-1535-B60D-FFB2F20BBD7E}"/>
              </a:ext>
            </a:extLst>
          </p:cNvPr>
          <p:cNvSpPr/>
          <p:nvPr/>
        </p:nvSpPr>
        <p:spPr>
          <a:xfrm>
            <a:off x="2566416" y="2319252"/>
            <a:ext cx="100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2F5386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🔵 営業終了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今日の営業は</a:t>
            </a:r>
            <a:b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</a:b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終わりました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4646BA1-DA89-3872-010F-DA080D9ED648}"/>
              </a:ext>
            </a:extLst>
          </p:cNvPr>
          <p:cNvSpPr/>
          <p:nvPr/>
        </p:nvSpPr>
        <p:spPr>
          <a:xfrm>
            <a:off x="201168" y="2926080"/>
            <a:ext cx="3506724" cy="1261872"/>
          </a:xfrm>
          <a:prstGeom prst="roundRect">
            <a:avLst>
              <a:gd name="adj" fmla="val 4348"/>
            </a:avLst>
          </a:prstGeom>
          <a:solidFill>
            <a:srgbClr val="E4D6BA"/>
          </a:solidFill>
          <a:ln/>
          <a:effectLst>
            <a:outerShdw blurRad="63500" dist="19050" dir="5400000" algn="bl" rotWithShape="0">
              <a:srgbClr val="9A92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BE76797-F17A-17C6-4F89-495760181E48}"/>
              </a:ext>
            </a:extLst>
          </p:cNvPr>
          <p:cNvSpPr/>
          <p:nvPr/>
        </p:nvSpPr>
        <p:spPr>
          <a:xfrm>
            <a:off x="310896" y="3017520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00BEF09-9538-895F-5E64-47C99C5CCCAC}"/>
              </a:ext>
            </a:extLst>
          </p:cNvPr>
          <p:cNvSpPr/>
          <p:nvPr/>
        </p:nvSpPr>
        <p:spPr>
          <a:xfrm>
            <a:off x="310896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😵</a:t>
            </a:r>
            <a:endParaRPr lang="en-US" sz="13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4770752-4F6F-1688-E50C-F7258181F9D1}"/>
              </a:ext>
            </a:extLst>
          </p:cNvPr>
          <p:cNvSpPr/>
          <p:nvPr/>
        </p:nvSpPr>
        <p:spPr>
          <a:xfrm>
            <a:off x="694944" y="301752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きっかけ ── 情報がバラバラ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85D2B24-C860-7CB5-3E6F-22DF908A4EEA}"/>
              </a:ext>
            </a:extLst>
          </p:cNvPr>
          <p:cNvSpPr/>
          <p:nvPr/>
        </p:nvSpPr>
        <p:spPr>
          <a:xfrm>
            <a:off x="310896" y="3401568"/>
            <a:ext cx="1517904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BEAE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44480C5-EA96-7F05-4A7C-8F66E78528AD}"/>
              </a:ext>
            </a:extLst>
          </p:cNvPr>
          <p:cNvSpPr/>
          <p:nvPr/>
        </p:nvSpPr>
        <p:spPr>
          <a:xfrm>
            <a:off x="374904" y="3401568"/>
            <a:ext cx="1389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📄 学食の予定は PDF、🚚 キッチンカーは別サイトにあります。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毎日チェックするのは大変です…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7DCF98A-5C3B-B86E-B14A-F0008D139067}"/>
              </a:ext>
            </a:extLst>
          </p:cNvPr>
          <p:cNvSpPr/>
          <p:nvPr/>
        </p:nvSpPr>
        <p:spPr>
          <a:xfrm>
            <a:off x="1883664" y="3648456"/>
            <a:ext cx="237744" cy="182880"/>
          </a:xfrm>
          <a:prstGeom prst="rightArrow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A85356B-53CF-7B4A-016E-95986DA02A60}"/>
              </a:ext>
            </a:extLst>
          </p:cNvPr>
          <p:cNvSpPr/>
          <p:nvPr/>
        </p:nvSpPr>
        <p:spPr>
          <a:xfrm>
            <a:off x="2194560" y="3401568"/>
            <a:ext cx="1399032" cy="676656"/>
          </a:xfrm>
          <a:prstGeom prst="roundRect">
            <a:avLst>
              <a:gd name="adj" fmla="val 6757"/>
            </a:avLst>
          </a:prstGeom>
          <a:solidFill>
            <a:srgbClr val="C3D6C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D1B5C6B-C9D3-2C27-862B-0DB5355AE236}"/>
              </a:ext>
            </a:extLst>
          </p:cNvPr>
          <p:cNvSpPr/>
          <p:nvPr/>
        </p:nvSpPr>
        <p:spPr>
          <a:xfrm>
            <a:off x="2258568" y="3401568"/>
            <a:ext cx="13121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✨ Welfare TIME </a:t>
            </a:r>
            <a:r>
              <a:rPr lang="en-US" sz="800" b="1" dirty="0" err="1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が集めてひとつの画面と</a:t>
            </a: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 API に統合します。</a:t>
            </a: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見る場所は、ここだけです。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FD1906C-5A53-8D00-5917-DFD3E0831D64}"/>
              </a:ext>
            </a:extLst>
          </p:cNvPr>
          <p:cNvSpPr/>
          <p:nvPr/>
        </p:nvSpPr>
        <p:spPr>
          <a:xfrm>
            <a:off x="310896" y="4352544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489A647-135E-EB73-BAEA-7C7EDBF6217C}"/>
              </a:ext>
            </a:extLst>
          </p:cNvPr>
          <p:cNvSpPr/>
          <p:nvPr/>
        </p:nvSpPr>
        <p:spPr>
          <a:xfrm>
            <a:off x="310896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</a:t>
            </a:r>
            <a:endParaRPr lang="en-US" sz="13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04A8527-6DEA-2C1A-774C-2C8B6797C355}"/>
              </a:ext>
            </a:extLst>
          </p:cNvPr>
          <p:cNvSpPr/>
          <p:nvPr/>
        </p:nvSpPr>
        <p:spPr>
          <a:xfrm>
            <a:off x="694944" y="4352544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しくみ ── データパイプライン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E303D87-14B2-C14B-1984-8020E4AF5888}"/>
              </a:ext>
            </a:extLst>
          </p:cNvPr>
          <p:cNvSpPr/>
          <p:nvPr/>
        </p:nvSpPr>
        <p:spPr>
          <a:xfrm>
            <a:off x="310896" y="4700016"/>
            <a:ext cx="32872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毎朝、人の手をいっさい借りずに、この流れが全自動で動きます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F2B589B-AB70-F9FC-2213-E66373358890}"/>
              </a:ext>
            </a:extLst>
          </p:cNvPr>
          <p:cNvSpPr/>
          <p:nvPr/>
        </p:nvSpPr>
        <p:spPr>
          <a:xfrm>
            <a:off x="288907" y="4892104"/>
            <a:ext cx="1620000" cy="548640"/>
          </a:xfrm>
          <a:prstGeom prst="roundRect">
            <a:avLst>
              <a:gd name="adj" fmla="val 8333"/>
            </a:avLst>
          </a:prstGeom>
          <a:solidFill>
            <a:srgbClr val="C3D6C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65FB722-4016-71A2-9CD1-B8AA25551339}"/>
              </a:ext>
            </a:extLst>
          </p:cNvPr>
          <p:cNvSpPr/>
          <p:nvPr/>
        </p:nvSpPr>
        <p:spPr>
          <a:xfrm>
            <a:off x="358243" y="4892104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📄 大学公式サイト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営業時間の PDF があります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FD2F3363-24EC-F97D-954F-234EEB4BEF77}"/>
              </a:ext>
            </a:extLst>
          </p:cNvPr>
          <p:cNvSpPr/>
          <p:nvPr/>
        </p:nvSpPr>
        <p:spPr>
          <a:xfrm>
            <a:off x="2000153" y="4892104"/>
            <a:ext cx="1620000" cy="548640"/>
          </a:xfrm>
          <a:prstGeom prst="roundRect">
            <a:avLst>
              <a:gd name="adj" fmla="val 8333"/>
            </a:avLst>
          </a:prstGeom>
          <a:solidFill>
            <a:srgbClr val="C3D6C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E3B6ED5-0B5B-BDAA-7623-B58C6C6D2C0F}"/>
              </a:ext>
            </a:extLst>
          </p:cNvPr>
          <p:cNvSpPr/>
          <p:nvPr/>
        </p:nvSpPr>
        <p:spPr>
          <a:xfrm>
            <a:off x="2055773" y="489210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🚚 キッチンカー情報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出店予定が Mellow にあります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A5F6C668-7149-7EB7-0D3E-78F403D8B591}"/>
              </a:ext>
            </a:extLst>
          </p:cNvPr>
          <p:cNvSpPr/>
          <p:nvPr/>
        </p:nvSpPr>
        <p:spPr>
          <a:xfrm>
            <a:off x="538168" y="5533854"/>
            <a:ext cx="164592" cy="274320"/>
          </a:xfrm>
          <a:prstGeom prst="downArrow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2B781B5-3FA0-C543-522C-9A473F1548C3}"/>
              </a:ext>
            </a:extLst>
          </p:cNvPr>
          <p:cNvSpPr/>
          <p:nvPr/>
        </p:nvSpPr>
        <p:spPr>
          <a:xfrm>
            <a:off x="748480" y="5533854"/>
            <a:ext cx="9209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F8272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① Fetch ── </a:t>
            </a:r>
            <a:br>
              <a:rPr lang="en-US" sz="800" b="1" dirty="0">
                <a:solidFill>
                  <a:srgbClr val="5F8272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</a:br>
            <a:r>
              <a:rPr lang="en-US" sz="800" b="1" dirty="0" err="1">
                <a:solidFill>
                  <a:srgbClr val="5F8272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自動で取得します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105" name="グループ化 104">
            <a:extLst>
              <a:ext uri="{FF2B5EF4-FFF2-40B4-BE49-F238E27FC236}">
                <a16:creationId xmlns:a16="http://schemas.microsoft.com/office/drawing/2014/main" id="{7EEB36CE-FD47-EE4E-E994-3A9D17977C6C}"/>
              </a:ext>
            </a:extLst>
          </p:cNvPr>
          <p:cNvGrpSpPr/>
          <p:nvPr/>
        </p:nvGrpSpPr>
        <p:grpSpPr>
          <a:xfrm>
            <a:off x="538168" y="6622258"/>
            <a:ext cx="1024478" cy="274320"/>
            <a:chOff x="652981" y="6596789"/>
            <a:chExt cx="1024478" cy="274320"/>
          </a:xfrm>
        </p:grpSpPr>
        <p:sp>
          <p:nvSpPr>
            <p:cNvPr id="40" name="Shape 38">
              <a:extLst>
                <a:ext uri="{FF2B5EF4-FFF2-40B4-BE49-F238E27FC236}">
                  <a16:creationId xmlns:a16="http://schemas.microsoft.com/office/drawing/2014/main" id="{C0EDDB7C-5505-87A5-5CCC-2772D128C704}"/>
                </a:ext>
              </a:extLst>
            </p:cNvPr>
            <p:cNvSpPr/>
            <p:nvPr/>
          </p:nvSpPr>
          <p:spPr>
            <a:xfrm>
              <a:off x="652981" y="6596789"/>
              <a:ext cx="164592" cy="274320"/>
            </a:xfrm>
            <a:prstGeom prst="downArrow">
              <a:avLst/>
            </a:prstGeom>
            <a:solidFill>
              <a:srgbClr val="B85042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1" name="Text 39">
              <a:extLst>
                <a:ext uri="{FF2B5EF4-FFF2-40B4-BE49-F238E27FC236}">
                  <a16:creationId xmlns:a16="http://schemas.microsoft.com/office/drawing/2014/main" id="{7AA25BFB-77C0-6563-F32C-18F41A2416B4}"/>
                </a:ext>
              </a:extLst>
            </p:cNvPr>
            <p:cNvSpPr/>
            <p:nvPr/>
          </p:nvSpPr>
          <p:spPr>
            <a:xfrm>
              <a:off x="863293" y="6596789"/>
              <a:ext cx="81416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800" b="1" dirty="0" err="1">
                  <a:solidFill>
                    <a:srgbClr val="5F8272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Yu Gothic" pitchFamily="34" charset="-120"/>
                </a:rPr>
                <a:t>表記ゆれを</a:t>
              </a:r>
              <a:br>
                <a:rPr lang="en-US" sz="800" b="1" dirty="0">
                  <a:solidFill>
                    <a:srgbClr val="5F8272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Yu Gothic" pitchFamily="34" charset="-120"/>
                </a:rPr>
              </a:br>
              <a:r>
                <a:rPr lang="en-US" sz="800" b="1" dirty="0" err="1">
                  <a:solidFill>
                    <a:srgbClr val="5F8272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Yu Gothic" pitchFamily="34" charset="-120"/>
                </a:rPr>
                <a:t>正規化します</a:t>
              </a:r>
              <a:endParaRPr lang="en-US" sz="800" dirty="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45" name="Shape 43">
            <a:extLst>
              <a:ext uri="{FF2B5EF4-FFF2-40B4-BE49-F238E27FC236}">
                <a16:creationId xmlns:a16="http://schemas.microsoft.com/office/drawing/2014/main" id="{7B5FF45C-495C-8FCA-1474-EF4058E7BE6E}"/>
              </a:ext>
            </a:extLst>
          </p:cNvPr>
          <p:cNvSpPr/>
          <p:nvPr/>
        </p:nvSpPr>
        <p:spPr>
          <a:xfrm rot="13500000">
            <a:off x="1872234" y="6622258"/>
            <a:ext cx="164592" cy="274320"/>
          </a:xfrm>
          <a:prstGeom prst="downArrow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E9F74DB5-59D5-7FC0-7F01-995553B27AC2}"/>
              </a:ext>
            </a:extLst>
          </p:cNvPr>
          <p:cNvSpPr/>
          <p:nvPr/>
        </p:nvSpPr>
        <p:spPr>
          <a:xfrm>
            <a:off x="2109709" y="5625563"/>
            <a:ext cx="1434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F8272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できたファイルを置くだけです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C2FE4805-8348-3223-0F1F-5E711719DA4F}"/>
              </a:ext>
            </a:extLst>
          </p:cNvPr>
          <p:cNvSpPr/>
          <p:nvPr/>
        </p:nvSpPr>
        <p:spPr>
          <a:xfrm>
            <a:off x="288810" y="5853894"/>
            <a:ext cx="1620000" cy="7200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A6BCA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4FEECB3B-2975-4646-C37E-D0F6D31538B4}"/>
              </a:ext>
            </a:extLst>
          </p:cNvPr>
          <p:cNvSpPr/>
          <p:nvPr/>
        </p:nvSpPr>
        <p:spPr>
          <a:xfrm>
            <a:off x="325386" y="5853894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🐍</a:t>
            </a:r>
            <a:endParaRPr lang="en-US" sz="13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B89B17F1-7A78-6FCE-D147-8132455B458E}"/>
              </a:ext>
            </a:extLst>
          </p:cNvPr>
          <p:cNvSpPr/>
          <p:nvPr/>
        </p:nvSpPr>
        <p:spPr>
          <a:xfrm>
            <a:off x="2000250" y="5853894"/>
            <a:ext cx="1620000" cy="720000"/>
          </a:xfrm>
          <a:prstGeom prst="roundRect">
            <a:avLst>
              <a:gd name="adj" fmla="val 6410"/>
            </a:avLst>
          </a:prstGeom>
          <a:solidFill>
            <a:schemeClr val="bg1"/>
          </a:solidFill>
          <a:ln w="9525">
            <a:solidFill>
              <a:srgbClr val="A6BCA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B3625B11-A0CF-202F-C59B-2BBFDD6E79DA}"/>
              </a:ext>
            </a:extLst>
          </p:cNvPr>
          <p:cNvSpPr/>
          <p:nvPr/>
        </p:nvSpPr>
        <p:spPr>
          <a:xfrm>
            <a:off x="2036826" y="5853894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📦</a:t>
            </a:r>
            <a:endParaRPr lang="en-US" sz="13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3EBD0DA3-D059-FA4A-310B-5CF1DF16F7FD}"/>
              </a:ext>
            </a:extLst>
          </p:cNvPr>
          <p:cNvSpPr/>
          <p:nvPr/>
        </p:nvSpPr>
        <p:spPr>
          <a:xfrm>
            <a:off x="3081877" y="6622258"/>
            <a:ext cx="164592" cy="274320"/>
          </a:xfrm>
          <a:prstGeom prst="downArrow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FDCF5424-0C0F-2629-2D86-64061DB7F537}"/>
              </a:ext>
            </a:extLst>
          </p:cNvPr>
          <p:cNvSpPr/>
          <p:nvPr/>
        </p:nvSpPr>
        <p:spPr>
          <a:xfrm>
            <a:off x="2420874" y="6622258"/>
            <a:ext cx="674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F8272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だれでも GET できます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85203598-E8B7-2C16-6497-D425A9944B85}"/>
              </a:ext>
            </a:extLst>
          </p:cNvPr>
          <p:cNvSpPr/>
          <p:nvPr/>
        </p:nvSpPr>
        <p:spPr>
          <a:xfrm>
            <a:off x="288810" y="6951174"/>
            <a:ext cx="1620000" cy="7200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A6BCA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02564E2D-4F99-3654-866E-142BBE917E24}"/>
              </a:ext>
            </a:extLst>
          </p:cNvPr>
          <p:cNvSpPr/>
          <p:nvPr/>
        </p:nvSpPr>
        <p:spPr>
          <a:xfrm>
            <a:off x="325386" y="6951174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🧩</a:t>
            </a:r>
            <a:endParaRPr lang="en-US" sz="13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0CE9053B-3FB2-397A-9E3C-1B8BF33D3324}"/>
              </a:ext>
            </a:extLst>
          </p:cNvPr>
          <p:cNvSpPr/>
          <p:nvPr/>
        </p:nvSpPr>
        <p:spPr>
          <a:xfrm>
            <a:off x="2000250" y="6951174"/>
            <a:ext cx="1620000" cy="720000"/>
          </a:xfrm>
          <a:prstGeom prst="roundRect">
            <a:avLst>
              <a:gd name="adj" fmla="val 6410"/>
            </a:avLst>
          </a:prstGeom>
          <a:solidFill>
            <a:schemeClr val="bg1"/>
          </a:solidFill>
          <a:ln w="9525">
            <a:solidFill>
              <a:srgbClr val="A6BCA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1610ED2D-0183-BE71-0C0D-E0AB6A2FAEAA}"/>
              </a:ext>
            </a:extLst>
          </p:cNvPr>
          <p:cNvSpPr/>
          <p:nvPr/>
        </p:nvSpPr>
        <p:spPr>
          <a:xfrm>
            <a:off x="2036826" y="6951174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🌐</a:t>
            </a:r>
            <a:endParaRPr lang="en-US" sz="130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DB50046B-1CE0-8D47-31F3-1DE473D00F70}"/>
              </a:ext>
            </a:extLst>
          </p:cNvPr>
          <p:cNvSpPr/>
          <p:nvPr/>
        </p:nvSpPr>
        <p:spPr>
          <a:xfrm>
            <a:off x="3854196" y="1225296"/>
            <a:ext cx="3506724" cy="2962656"/>
          </a:xfrm>
          <a:prstGeom prst="roundRect">
            <a:avLst>
              <a:gd name="adj" fmla="val 1863"/>
            </a:avLst>
          </a:prstGeom>
          <a:solidFill>
            <a:srgbClr val="E4D6BA"/>
          </a:solidFill>
          <a:ln/>
          <a:effectLst>
            <a:outerShdw blurRad="63500" dist="19050" dir="5400000" algn="bl" rotWithShape="0">
              <a:srgbClr val="9A92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B29F4745-DC28-2800-086B-84A60809743C}"/>
              </a:ext>
            </a:extLst>
          </p:cNvPr>
          <p:cNvSpPr/>
          <p:nvPr/>
        </p:nvSpPr>
        <p:spPr>
          <a:xfrm>
            <a:off x="3963924" y="1316736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C88B3FD3-64DD-EABA-AB92-FF73F5F86E3E}"/>
              </a:ext>
            </a:extLst>
          </p:cNvPr>
          <p:cNvSpPr/>
          <p:nvPr/>
        </p:nvSpPr>
        <p:spPr>
          <a:xfrm>
            <a:off x="3963924" y="1307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💻</a:t>
            </a:r>
            <a:endParaRPr lang="en-US" sz="13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A3A4D853-FB84-FFC0-A814-AE2A2274D977}"/>
              </a:ext>
            </a:extLst>
          </p:cNvPr>
          <p:cNvSpPr/>
          <p:nvPr/>
        </p:nvSpPr>
        <p:spPr>
          <a:xfrm>
            <a:off x="4347972" y="1316736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3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REST API ってなに？</a:t>
            </a:r>
            <a:endParaRPr lang="en-US" sz="13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6CDC04FD-1FE7-CC36-1797-7BA1E183F92B}"/>
              </a:ext>
            </a:extLst>
          </p:cNvPr>
          <p:cNvSpPr/>
          <p:nvPr/>
        </p:nvSpPr>
        <p:spPr>
          <a:xfrm>
            <a:off x="3963924" y="1700784"/>
            <a:ext cx="32872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API</a:t>
            </a: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 とは「プログラム同士が話すための窓口」です。その中でも </a:t>
            </a:r>
            <a:r>
              <a:rPr lang="en-US" sz="8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REST</a:t>
            </a: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 は、Web ページを見るときと同じしくみ（HTTP）をそのまま使う設計スタイルです。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・URL が「もの」を表します（</a:t>
            </a:r>
            <a:r>
              <a:rPr lang="en-US" sz="800" dirty="0">
                <a:solidFill>
                  <a:srgbClr val="33302E"/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/api/shops</a:t>
            </a: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 なら店舗一覧）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・GET などの決まった動詞でお願いします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・返事はどの言語からも読める JSON 形式を採用しています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61961145-EAED-1980-35CC-D2859B3F7ABF}"/>
              </a:ext>
            </a:extLst>
          </p:cNvPr>
          <p:cNvSpPr/>
          <p:nvPr/>
        </p:nvSpPr>
        <p:spPr>
          <a:xfrm>
            <a:off x="3963924" y="2651760"/>
            <a:ext cx="3287268" cy="1188720"/>
          </a:xfrm>
          <a:prstGeom prst="roundRect">
            <a:avLst>
              <a:gd name="adj" fmla="val 3846"/>
            </a:avLst>
          </a:prstGeom>
          <a:solidFill>
            <a:srgbClr val="2B292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AADF3700-B65A-F323-07BE-2A7125E61A57}"/>
              </a:ext>
            </a:extLst>
          </p:cNvPr>
          <p:cNvSpPr/>
          <p:nvPr/>
        </p:nvSpPr>
        <p:spPr>
          <a:xfrm>
            <a:off x="4073652" y="2706624"/>
            <a:ext cx="30678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>
                <a:solidFill>
                  <a:srgbClr val="8FD3A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GET https</a:t>
            </a:r>
            <a:r>
              <a:rPr lang="en-US" sz="800" dirty="0">
                <a:solidFill>
                  <a:srgbClr val="8FD3A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://tamadalab.github.io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FD3A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      /welfare-time/api/schedule/today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DE8E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{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DE8E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"date": "2026-05-18",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DE8E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"cafeterias": [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DE8E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  { "name": "食堂",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DE8E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    "business_hours": "11:00～14:00" } ], …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DE8E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}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7470E76C-0E66-2E7B-AD8A-58086B742213}"/>
              </a:ext>
            </a:extLst>
          </p:cNvPr>
          <p:cNvSpPr/>
          <p:nvPr/>
        </p:nvSpPr>
        <p:spPr>
          <a:xfrm>
            <a:off x="3963924" y="3895344"/>
            <a:ext cx="32872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F8272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👆 ブラウザでこの URL を開くだけで、実際に結果を見られます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90AD61B4-D798-77AD-5A69-7B7CC4B739E0}"/>
              </a:ext>
            </a:extLst>
          </p:cNvPr>
          <p:cNvSpPr/>
          <p:nvPr/>
        </p:nvSpPr>
        <p:spPr>
          <a:xfrm>
            <a:off x="3854196" y="4261104"/>
            <a:ext cx="3506724" cy="2523744"/>
          </a:xfrm>
          <a:prstGeom prst="roundRect">
            <a:avLst>
              <a:gd name="adj" fmla="val 2158"/>
            </a:avLst>
          </a:prstGeom>
          <a:solidFill>
            <a:srgbClr val="E4D6BA"/>
          </a:solidFill>
          <a:ln/>
          <a:effectLst>
            <a:outerShdw blurRad="63500" dist="19050" dir="5400000" algn="bl" rotWithShape="0">
              <a:srgbClr val="9A92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489D3EB0-F4EF-133F-73B7-AD47BBC06223}"/>
              </a:ext>
            </a:extLst>
          </p:cNvPr>
          <p:cNvSpPr/>
          <p:nvPr/>
        </p:nvSpPr>
        <p:spPr>
          <a:xfrm>
            <a:off x="3963924" y="4334256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EA6636EA-0B78-9D6C-C0EA-5359AB926B32}"/>
              </a:ext>
            </a:extLst>
          </p:cNvPr>
          <p:cNvSpPr/>
          <p:nvPr/>
        </p:nvSpPr>
        <p:spPr>
          <a:xfrm>
            <a:off x="3963924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🤔</a:t>
            </a:r>
            <a:endParaRPr lang="en-US" sz="1300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EF8A3807-672B-BF2B-CBED-7D5653F39F6D}"/>
              </a:ext>
            </a:extLst>
          </p:cNvPr>
          <p:cNvSpPr/>
          <p:nvPr/>
        </p:nvSpPr>
        <p:spPr>
          <a:xfrm>
            <a:off x="4347972" y="4334256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なぜ REST にしたの？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B4F3C248-48E2-3572-91D9-CAF207E0156E}"/>
              </a:ext>
            </a:extLst>
          </p:cNvPr>
          <p:cNvSpPr/>
          <p:nvPr/>
        </p:nvSpPr>
        <p:spPr>
          <a:xfrm>
            <a:off x="3963924" y="4773168"/>
            <a:ext cx="274320" cy="274320"/>
          </a:xfrm>
          <a:prstGeom prst="ellipse">
            <a:avLst/>
          </a:prstGeom>
          <a:solidFill>
            <a:srgbClr val="C3D6C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3D84F2CB-6EDB-441E-9511-C23686C7E770}"/>
              </a:ext>
            </a:extLst>
          </p:cNvPr>
          <p:cNvSpPr/>
          <p:nvPr/>
        </p:nvSpPr>
        <p:spPr>
          <a:xfrm>
            <a:off x="3963924" y="4764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🔎</a:t>
            </a:r>
            <a:endParaRPr lang="en-US" sz="1300" dirty="0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016FBA6F-0585-637B-FA78-69715061D8DC}"/>
              </a:ext>
            </a:extLst>
          </p:cNvPr>
          <p:cNvSpPr/>
          <p:nvPr/>
        </p:nvSpPr>
        <p:spPr>
          <a:xfrm>
            <a:off x="4311396" y="4718304"/>
            <a:ext cx="2939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URL を見れば意味がわかる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/api/schedule/tomorrow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 は「明日の予定」を表します。仕様書がなくても直感で使えます。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C2FBC07A-D5DF-F4FA-3D91-A8142355E848}"/>
              </a:ext>
            </a:extLst>
          </p:cNvPr>
          <p:cNvSpPr/>
          <p:nvPr/>
        </p:nvSpPr>
        <p:spPr>
          <a:xfrm>
            <a:off x="3963924" y="5276088"/>
            <a:ext cx="274320" cy="274320"/>
          </a:xfrm>
          <a:prstGeom prst="ellipse">
            <a:avLst/>
          </a:prstGeom>
          <a:solidFill>
            <a:srgbClr val="C3D6C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719C6575-A20E-7DE3-0218-4277D61A6B8C}"/>
              </a:ext>
            </a:extLst>
          </p:cNvPr>
          <p:cNvSpPr/>
          <p:nvPr/>
        </p:nvSpPr>
        <p:spPr>
          <a:xfrm>
            <a:off x="3963924" y="5266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🧪</a:t>
            </a:r>
            <a:endParaRPr lang="en-US" sz="130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6E765E95-EF2C-C8C7-6B5B-BCF9350481EC}"/>
              </a:ext>
            </a:extLst>
          </p:cNvPr>
          <p:cNvSpPr/>
          <p:nvPr/>
        </p:nvSpPr>
        <p:spPr>
          <a:xfrm>
            <a:off x="4311396" y="5221224"/>
            <a:ext cx="2939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ブラウザだけで試せる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特別な道具は要りません。URL をアドレスバーに打てば、その場で動作確認できます。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219F375C-ADE5-F0A1-4468-DAD7E2CD66AB}"/>
              </a:ext>
            </a:extLst>
          </p:cNvPr>
          <p:cNvSpPr/>
          <p:nvPr/>
        </p:nvSpPr>
        <p:spPr>
          <a:xfrm>
            <a:off x="3963924" y="5779008"/>
            <a:ext cx="274320" cy="274320"/>
          </a:xfrm>
          <a:prstGeom prst="ellipse">
            <a:avLst/>
          </a:prstGeom>
          <a:solidFill>
            <a:srgbClr val="C3D6C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27A4AF1A-802E-DB1A-B8F0-3AD82408DE35}"/>
              </a:ext>
            </a:extLst>
          </p:cNvPr>
          <p:cNvSpPr/>
          <p:nvPr/>
        </p:nvSpPr>
        <p:spPr>
          <a:xfrm>
            <a:off x="3963924" y="5769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🧩</a:t>
            </a:r>
            <a:endParaRPr lang="en-US" sz="1300" dirty="0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9395C414-A3D9-5513-E1A0-15F987BF0D8D}"/>
              </a:ext>
            </a:extLst>
          </p:cNvPr>
          <p:cNvSpPr/>
          <p:nvPr/>
        </p:nvSpPr>
        <p:spPr>
          <a:xfrm>
            <a:off x="4311396" y="5724144"/>
            <a:ext cx="2939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データと見た目を分けられる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同じ API から、Web でもスマホアプリでもボットでも、自由に作れます。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288D9833-A1FD-1C8F-68FD-3D6930D131B7}"/>
              </a:ext>
            </a:extLst>
          </p:cNvPr>
          <p:cNvSpPr/>
          <p:nvPr/>
        </p:nvSpPr>
        <p:spPr>
          <a:xfrm>
            <a:off x="3963924" y="6281928"/>
            <a:ext cx="274320" cy="274320"/>
          </a:xfrm>
          <a:prstGeom prst="ellipse">
            <a:avLst/>
          </a:prstGeom>
          <a:solidFill>
            <a:srgbClr val="C3D6C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F9A2BE22-AD90-5635-4037-4634945400E9}"/>
              </a:ext>
            </a:extLst>
          </p:cNvPr>
          <p:cNvSpPr/>
          <p:nvPr/>
        </p:nvSpPr>
        <p:spPr>
          <a:xfrm>
            <a:off x="3963924" y="6272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🪶</a:t>
            </a:r>
            <a:endParaRPr lang="en-US" sz="1300" dirty="0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B957C64C-C601-AAC1-7864-316655E034E4}"/>
              </a:ext>
            </a:extLst>
          </p:cNvPr>
          <p:cNvSpPr/>
          <p:nvPr/>
        </p:nvSpPr>
        <p:spPr>
          <a:xfrm>
            <a:off x="4311396" y="6227064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静的ファイルと相性が抜群です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作った JSON を置くだけで REST </a:t>
            </a: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になります。速くて、タダで、壊れにくいのです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A15CB639-0EAA-D4A5-3E44-701A5D96B5FC}"/>
              </a:ext>
            </a:extLst>
          </p:cNvPr>
          <p:cNvSpPr/>
          <p:nvPr/>
        </p:nvSpPr>
        <p:spPr>
          <a:xfrm>
            <a:off x="3854196" y="6858000"/>
            <a:ext cx="3506724" cy="1755648"/>
          </a:xfrm>
          <a:prstGeom prst="roundRect">
            <a:avLst>
              <a:gd name="adj" fmla="val 3125"/>
            </a:avLst>
          </a:prstGeom>
          <a:solidFill>
            <a:srgbClr val="E4D6BA"/>
          </a:solidFill>
          <a:ln/>
          <a:effectLst>
            <a:outerShdw blurRad="63500" dist="19050" dir="5400000" algn="bl" rotWithShape="0">
              <a:srgbClr val="9A92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C2DBE150-87A5-0950-EFE4-678061461300}"/>
              </a:ext>
            </a:extLst>
          </p:cNvPr>
          <p:cNvSpPr/>
          <p:nvPr/>
        </p:nvSpPr>
        <p:spPr>
          <a:xfrm>
            <a:off x="3963924" y="6949440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75EA7A9A-CECA-CBB6-8071-13EB9E972E6D}"/>
              </a:ext>
            </a:extLst>
          </p:cNvPr>
          <p:cNvSpPr/>
          <p:nvPr/>
        </p:nvSpPr>
        <p:spPr>
          <a:xfrm>
            <a:off x="3963924" y="6940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🧠</a:t>
            </a:r>
            <a:endParaRPr lang="en-US" sz="1300" dirty="0"/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30FABEAF-B98A-A222-59C5-EDCE05A83FC1}"/>
              </a:ext>
            </a:extLst>
          </p:cNvPr>
          <p:cNvSpPr/>
          <p:nvPr/>
        </p:nvSpPr>
        <p:spPr>
          <a:xfrm>
            <a:off x="4347972" y="694944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設計の思想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5852459A-0AC5-2CD3-1AF4-F0C320A3045C}"/>
              </a:ext>
            </a:extLst>
          </p:cNvPr>
          <p:cNvSpPr/>
          <p:nvPr/>
        </p:nvSpPr>
        <p:spPr>
          <a:xfrm>
            <a:off x="3963924" y="7333488"/>
            <a:ext cx="159791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BEAE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A1C75E4C-B250-5B6A-51B0-2D62D2F821C5}"/>
              </a:ext>
            </a:extLst>
          </p:cNvPr>
          <p:cNvSpPr/>
          <p:nvPr/>
        </p:nvSpPr>
        <p:spPr>
          <a:xfrm>
            <a:off x="4027932" y="7333488"/>
            <a:ext cx="14698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⚡ サーバーレス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重い計算は毎朝 1 回だけです。あとは JSON を配るだけです。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B57E4856-E93C-5FF5-07BC-9E09D62A9918}"/>
              </a:ext>
            </a:extLst>
          </p:cNvPr>
          <p:cNvSpPr/>
          <p:nvPr/>
        </p:nvSpPr>
        <p:spPr>
          <a:xfrm>
            <a:off x="5653278" y="7333488"/>
            <a:ext cx="159791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BEAE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7C37C6EF-04BE-832E-E8D2-2DDF5597E2A6}"/>
              </a:ext>
            </a:extLst>
          </p:cNvPr>
          <p:cNvSpPr/>
          <p:nvPr/>
        </p:nvSpPr>
        <p:spPr>
          <a:xfrm>
            <a:off x="5717286" y="7333488"/>
            <a:ext cx="14698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🤖 全自動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収集から公開まで CI が毎朝実行します。人は何もしません。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8733B33A-2F17-585A-50F3-ACF31B55C3F8}"/>
              </a:ext>
            </a:extLst>
          </p:cNvPr>
          <p:cNvSpPr/>
          <p:nvPr/>
        </p:nvSpPr>
        <p:spPr>
          <a:xfrm>
            <a:off x="3963924" y="7955280"/>
            <a:ext cx="159791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BEAE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03AC200C-867E-407B-1CAD-168CF0FC5985}"/>
              </a:ext>
            </a:extLst>
          </p:cNvPr>
          <p:cNvSpPr/>
          <p:nvPr/>
        </p:nvSpPr>
        <p:spPr>
          <a:xfrm>
            <a:off x="4027932" y="7955280"/>
            <a:ext cx="13510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📏 正規化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表記ゆれを共通ルールで統一し、品質を守っています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E215E65D-6185-1807-DBD0-F37E650D6361}"/>
              </a:ext>
            </a:extLst>
          </p:cNvPr>
          <p:cNvSpPr/>
          <p:nvPr/>
        </p:nvSpPr>
        <p:spPr>
          <a:xfrm>
            <a:off x="5653278" y="7955280"/>
            <a:ext cx="159791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BEAE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A8AB96E5-FD6C-B541-C3AB-697AD01677C6}"/>
              </a:ext>
            </a:extLst>
          </p:cNvPr>
          <p:cNvSpPr/>
          <p:nvPr/>
        </p:nvSpPr>
        <p:spPr>
          <a:xfrm>
            <a:off x="5717286" y="7955280"/>
            <a:ext cx="14698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🌏 オープン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コードは GitHub で公開され、だれでも改善に参加できます。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99B30E18-5476-0D35-1099-27CC31CC1CA0}"/>
              </a:ext>
            </a:extLst>
          </p:cNvPr>
          <p:cNvSpPr/>
          <p:nvPr/>
        </p:nvSpPr>
        <p:spPr>
          <a:xfrm>
            <a:off x="3854196" y="8686800"/>
            <a:ext cx="3506724" cy="1261872"/>
          </a:xfrm>
          <a:prstGeom prst="roundRect">
            <a:avLst>
              <a:gd name="adj" fmla="val 4348"/>
            </a:avLst>
          </a:prstGeom>
          <a:solidFill>
            <a:srgbClr val="E4D6BA"/>
          </a:solidFill>
          <a:ln/>
          <a:effectLst>
            <a:outerShdw blurRad="63500" dist="19050" dir="5400000" algn="bl" rotWithShape="0">
              <a:srgbClr val="9A92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E7512D76-5422-8046-E8D6-7F5B3A0EA168}"/>
              </a:ext>
            </a:extLst>
          </p:cNvPr>
          <p:cNvSpPr/>
          <p:nvPr/>
        </p:nvSpPr>
        <p:spPr>
          <a:xfrm>
            <a:off x="3963924" y="8778240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619DC305-D503-C68B-3581-088C8970F4E7}"/>
              </a:ext>
            </a:extLst>
          </p:cNvPr>
          <p:cNvSpPr/>
          <p:nvPr/>
        </p:nvSpPr>
        <p:spPr>
          <a:xfrm>
            <a:off x="3963924" y="8769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🔗</a:t>
            </a:r>
            <a:endParaRPr lang="en-US" sz="1300" dirty="0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1E121D95-5B74-544C-8530-0F685F435C2A}"/>
              </a:ext>
            </a:extLst>
          </p:cNvPr>
          <p:cNvSpPr/>
          <p:nvPr/>
        </p:nvSpPr>
        <p:spPr>
          <a:xfrm>
            <a:off x="4347972" y="877824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主な API エンドポイント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9BB4D611-AF8C-92DF-DD35-CC60E81226A4}"/>
              </a:ext>
            </a:extLst>
          </p:cNvPr>
          <p:cNvSpPr/>
          <p:nvPr/>
        </p:nvSpPr>
        <p:spPr>
          <a:xfrm>
            <a:off x="3963924" y="9180576"/>
            <a:ext cx="32872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buNone/>
              <a:tabLst>
                <a:tab pos="1103313" algn="l"/>
              </a:tabLst>
            </a:pPr>
            <a:r>
              <a:rPr lang="en-US" sz="800" b="1" dirty="0">
                <a:solidFill>
                  <a:srgbClr val="33302E"/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/api/schedule/today	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nsolas" panose="020B0609020204030204" pitchFamily="49" charset="0"/>
              </a:rPr>
              <a:t>  ── 今日の営業一覧を返します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  <a:tabLst>
                <a:tab pos="1103313" algn="l"/>
              </a:tabLst>
            </a:pPr>
            <a:r>
              <a:rPr lang="en-US" sz="800" b="1" dirty="0">
                <a:solidFill>
                  <a:srgbClr val="33302E"/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/api/shops	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nsolas" panose="020B0609020204030204" pitchFamily="49" charset="0"/>
              </a:rPr>
              <a:t>  ── 全店舗の情報を返します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  <a:tabLst>
                <a:tab pos="1103313" algn="l"/>
              </a:tabLst>
            </a:pPr>
            <a:r>
              <a:rPr lang="en-US" sz="800" b="1" dirty="0">
                <a:solidFill>
                  <a:srgbClr val="33302E"/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/api/status	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nsolas" panose="020B0609020204030204" pitchFamily="49" charset="0"/>
              </a:rPr>
              <a:t>  ── 更新日時とデータ範囲を返します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  <a:cs typeface="Consolas" panose="020B0609020204030204" pitchFamily="49" charset="0"/>
            </a:endParaRPr>
          </a:p>
        </p:txBody>
      </p:sp>
      <p:sp>
        <p:nvSpPr>
          <p:cNvPr id="96" name="Shape 94">
            <a:extLst>
              <a:ext uri="{FF2B5EF4-FFF2-40B4-BE49-F238E27FC236}">
                <a16:creationId xmlns:a16="http://schemas.microsoft.com/office/drawing/2014/main" id="{2BB8483B-5247-70B3-9C59-5F0AB1FB21C8}"/>
              </a:ext>
            </a:extLst>
          </p:cNvPr>
          <p:cNvSpPr/>
          <p:nvPr/>
        </p:nvSpPr>
        <p:spPr>
          <a:xfrm>
            <a:off x="0" y="10040112"/>
            <a:ext cx="7562088" cy="649224"/>
          </a:xfrm>
          <a:prstGeom prst="rect">
            <a:avLst/>
          </a:prstGeom>
          <a:solidFill>
            <a:srgbClr val="7E332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7" name="Text 95">
            <a:extLst>
              <a:ext uri="{FF2B5EF4-FFF2-40B4-BE49-F238E27FC236}">
                <a16:creationId xmlns:a16="http://schemas.microsoft.com/office/drawing/2014/main" id="{ACF7077B-D7EB-750A-A1B1-24F2626BF0A6}"/>
              </a:ext>
            </a:extLst>
          </p:cNvPr>
          <p:cNvSpPr/>
          <p:nvPr/>
        </p:nvSpPr>
        <p:spPr>
          <a:xfrm>
            <a:off x="237744" y="10040112"/>
            <a:ext cx="54864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📱 ホーム画面に追加すれば、アプリのように使えます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F6DCD4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改善の提案や不具合の報告は github.com/tamadalab/welfare-time へお寄せください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8" name="Shape 96">
            <a:extLst>
              <a:ext uri="{FF2B5EF4-FFF2-40B4-BE49-F238E27FC236}">
                <a16:creationId xmlns:a16="http://schemas.microsoft.com/office/drawing/2014/main" id="{19AF223A-5964-7E79-F84B-038D6026BAE3}"/>
              </a:ext>
            </a:extLst>
          </p:cNvPr>
          <p:cNvSpPr/>
          <p:nvPr/>
        </p:nvSpPr>
        <p:spPr>
          <a:xfrm>
            <a:off x="6784848" y="10094976"/>
            <a:ext cx="54864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99" name="Image 0" descr="qr-site.png">
            <a:extLst>
              <a:ext uri="{FF2B5EF4-FFF2-40B4-BE49-F238E27FC236}">
                <a16:creationId xmlns:a16="http://schemas.microsoft.com/office/drawing/2014/main" id="{02FF17FB-D631-E073-210B-B21C9D884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10131552"/>
            <a:ext cx="475488" cy="475488"/>
          </a:xfrm>
          <a:prstGeom prst="rect">
            <a:avLst/>
          </a:prstGeom>
        </p:spPr>
      </p:pic>
      <p:sp>
        <p:nvSpPr>
          <p:cNvPr id="100" name="Text 97">
            <a:extLst>
              <a:ext uri="{FF2B5EF4-FFF2-40B4-BE49-F238E27FC236}">
                <a16:creationId xmlns:a16="http://schemas.microsoft.com/office/drawing/2014/main" id="{1ACA1C3A-69B9-6AD7-57E0-A539358CFF04}"/>
              </a:ext>
            </a:extLst>
          </p:cNvPr>
          <p:cNvSpPr/>
          <p:nvPr/>
        </p:nvSpPr>
        <p:spPr>
          <a:xfrm>
            <a:off x="5870448" y="10094976"/>
            <a:ext cx="85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サイトはこちら →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7" name="Shape 24">
            <a:extLst>
              <a:ext uri="{FF2B5EF4-FFF2-40B4-BE49-F238E27FC236}">
                <a16:creationId xmlns:a16="http://schemas.microsoft.com/office/drawing/2014/main" id="{6B2265FB-493E-E341-722A-2DB3C0FE404E}"/>
              </a:ext>
            </a:extLst>
          </p:cNvPr>
          <p:cNvSpPr/>
          <p:nvPr/>
        </p:nvSpPr>
        <p:spPr>
          <a:xfrm>
            <a:off x="201168" y="7862238"/>
            <a:ext cx="3506724" cy="2086434"/>
          </a:xfrm>
          <a:prstGeom prst="roundRect">
            <a:avLst>
              <a:gd name="adj" fmla="val 2525"/>
            </a:avLst>
          </a:prstGeom>
          <a:solidFill>
            <a:srgbClr val="E4D6BA"/>
          </a:solidFill>
          <a:ln/>
          <a:effectLst>
            <a:outerShdw blurRad="63500" dist="19050" dir="5400000" algn="bl" rotWithShape="0">
              <a:srgbClr val="9A92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8" name="Shape 25">
            <a:extLst>
              <a:ext uri="{FF2B5EF4-FFF2-40B4-BE49-F238E27FC236}">
                <a16:creationId xmlns:a16="http://schemas.microsoft.com/office/drawing/2014/main" id="{C01AE739-3326-B3F4-33AB-D9A7FB2FE2CA}"/>
              </a:ext>
            </a:extLst>
          </p:cNvPr>
          <p:cNvSpPr/>
          <p:nvPr/>
        </p:nvSpPr>
        <p:spPr>
          <a:xfrm>
            <a:off x="314912" y="7950850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9" name="Text 26">
            <a:extLst>
              <a:ext uri="{FF2B5EF4-FFF2-40B4-BE49-F238E27FC236}">
                <a16:creationId xmlns:a16="http://schemas.microsoft.com/office/drawing/2014/main" id="{3CF356D5-CCC3-9720-059F-561CCD2594D6}"/>
              </a:ext>
            </a:extLst>
          </p:cNvPr>
          <p:cNvSpPr/>
          <p:nvPr/>
        </p:nvSpPr>
        <p:spPr>
          <a:xfrm>
            <a:off x="314912" y="79417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🤖</a:t>
            </a:r>
            <a:endParaRPr lang="en-US" sz="1300" dirty="0"/>
          </a:p>
        </p:txBody>
      </p:sp>
      <p:sp>
        <p:nvSpPr>
          <p:cNvPr id="110" name="Text 27">
            <a:extLst>
              <a:ext uri="{FF2B5EF4-FFF2-40B4-BE49-F238E27FC236}">
                <a16:creationId xmlns:a16="http://schemas.microsoft.com/office/drawing/2014/main" id="{674967C9-C1BD-B7F3-15AF-E21B5B2FCEA3}"/>
              </a:ext>
            </a:extLst>
          </p:cNvPr>
          <p:cNvSpPr/>
          <p:nvPr/>
        </p:nvSpPr>
        <p:spPr>
          <a:xfrm>
            <a:off x="698960" y="795085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実装</a:t>
            </a:r>
            <a:r>
              <a:rPr lang="en-US" sz="13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 ── Agentic Coding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0FA2BC98-458F-EA29-2E6B-3ED461E18BAE}"/>
              </a:ext>
            </a:extLst>
          </p:cNvPr>
          <p:cNvSpPr txBox="1"/>
          <p:nvPr/>
        </p:nvSpPr>
        <p:spPr>
          <a:xfrm>
            <a:off x="612783" y="5888627"/>
            <a:ext cx="1347892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altLang="ja-JP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② Parse/Scrape ── Python </a:t>
            </a:r>
            <a:r>
              <a:rPr lang="en-US" altLang="ja-JP" sz="800" b="1" dirty="0" err="1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で読み解く</a:t>
            </a:r>
            <a:endParaRPr lang="en-US" altLang="ja-JP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altLang="ja-JP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PDFやHTMLから店名や営業時間を抽出します</a:t>
            </a:r>
            <a:r>
              <a:rPr lang="en-US" altLang="ja-JP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。</a:t>
            </a:r>
            <a:endParaRPr lang="en-US" altLang="ja-JP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3" name="Text 42">
            <a:extLst>
              <a:ext uri="{FF2B5EF4-FFF2-40B4-BE49-F238E27FC236}">
                <a16:creationId xmlns:a16="http://schemas.microsoft.com/office/drawing/2014/main" id="{97D2B24A-8E6F-D8DB-2637-817386135AF8}"/>
              </a:ext>
            </a:extLst>
          </p:cNvPr>
          <p:cNvSpPr/>
          <p:nvPr/>
        </p:nvSpPr>
        <p:spPr>
          <a:xfrm>
            <a:off x="694944" y="6957942"/>
            <a:ext cx="126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③ Generate ── </a:t>
            </a:r>
            <a:b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</a:br>
            <a:r>
              <a:rPr lang="en-US" sz="800" b="1" dirty="0" err="1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データを統合する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全ソースをまとめてJSON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 ファイル群を生成します。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5" name="Text 47">
            <a:extLst>
              <a:ext uri="{FF2B5EF4-FFF2-40B4-BE49-F238E27FC236}">
                <a16:creationId xmlns:a16="http://schemas.microsoft.com/office/drawing/2014/main" id="{85FACE92-218D-BEC9-A147-17F83B0C56C0}"/>
              </a:ext>
            </a:extLst>
          </p:cNvPr>
          <p:cNvSpPr/>
          <p:nvPr/>
        </p:nvSpPr>
        <p:spPr>
          <a:xfrm>
            <a:off x="2416938" y="5853894"/>
            <a:ext cx="12441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④ 静的 JSON API </a:t>
            </a:r>
            <a:b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</a:br>
            <a:r>
              <a:rPr lang="en-US" sz="800" b="1" dirty="0" err="1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として公開する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JSON </a:t>
            </a: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を置くだけで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、</a:t>
            </a:r>
            <a:b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</a:b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サーバーは計算しません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6" name="Text 52">
            <a:extLst>
              <a:ext uri="{FF2B5EF4-FFF2-40B4-BE49-F238E27FC236}">
                <a16:creationId xmlns:a16="http://schemas.microsoft.com/office/drawing/2014/main" id="{FA814A4F-B105-BA01-55BD-26F86E615401}"/>
              </a:ext>
            </a:extLst>
          </p:cNvPr>
          <p:cNvSpPr/>
          <p:nvPr/>
        </p:nvSpPr>
        <p:spPr>
          <a:xfrm>
            <a:off x="2426701" y="6949440"/>
            <a:ext cx="11934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⑤ Web </a:t>
            </a:r>
            <a:r>
              <a:rPr lang="en-US" sz="800" b="1" dirty="0" err="1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アプリで</a:t>
            </a:r>
            <a:b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</a:br>
            <a:r>
              <a:rPr lang="en-US" sz="800" b="1" dirty="0" err="1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表示する</a:t>
            </a:r>
            <a:b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</a:b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同じAPIからあなたの</a:t>
            </a:r>
            <a:b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</a:b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自作アプリも作れます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！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7" name="Shape 65">
            <a:extLst>
              <a:ext uri="{FF2B5EF4-FFF2-40B4-BE49-F238E27FC236}">
                <a16:creationId xmlns:a16="http://schemas.microsoft.com/office/drawing/2014/main" id="{9B29B8DE-83FF-4DBA-67C5-5785AB81D907}"/>
              </a:ext>
            </a:extLst>
          </p:cNvPr>
          <p:cNvSpPr/>
          <p:nvPr/>
        </p:nvSpPr>
        <p:spPr>
          <a:xfrm>
            <a:off x="320040" y="8447757"/>
            <a:ext cx="274320" cy="274320"/>
          </a:xfrm>
          <a:prstGeom prst="ellipse">
            <a:avLst/>
          </a:prstGeom>
          <a:solidFill>
            <a:srgbClr val="C3D6C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8" name="Text 66">
            <a:extLst>
              <a:ext uri="{FF2B5EF4-FFF2-40B4-BE49-F238E27FC236}">
                <a16:creationId xmlns:a16="http://schemas.microsoft.com/office/drawing/2014/main" id="{81D4E53C-1874-99FC-1341-4D8690A4CA24}"/>
              </a:ext>
            </a:extLst>
          </p:cNvPr>
          <p:cNvSpPr/>
          <p:nvPr/>
        </p:nvSpPr>
        <p:spPr>
          <a:xfrm>
            <a:off x="320040" y="84386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📄</a:t>
            </a:r>
          </a:p>
        </p:txBody>
      </p:sp>
      <p:sp>
        <p:nvSpPr>
          <p:cNvPr id="119" name="Text 67">
            <a:extLst>
              <a:ext uri="{FF2B5EF4-FFF2-40B4-BE49-F238E27FC236}">
                <a16:creationId xmlns:a16="http://schemas.microsoft.com/office/drawing/2014/main" id="{620CDAA6-6A0D-3187-CAE3-7393DBC3D882}"/>
              </a:ext>
            </a:extLst>
          </p:cNvPr>
          <p:cNvSpPr/>
          <p:nvPr/>
        </p:nvSpPr>
        <p:spPr>
          <a:xfrm>
            <a:off x="667512" y="8392893"/>
            <a:ext cx="2939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 err="1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プログラムはAIに任せました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人が書いたのは、何を作りたいかを書いた仕様書だけです。仕様書もAIと一緒に作り上げています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0" name="Shape 68">
            <a:extLst>
              <a:ext uri="{FF2B5EF4-FFF2-40B4-BE49-F238E27FC236}">
                <a16:creationId xmlns:a16="http://schemas.microsoft.com/office/drawing/2014/main" id="{80C6C514-C207-3C23-2DEC-BA24AB3C077C}"/>
              </a:ext>
            </a:extLst>
          </p:cNvPr>
          <p:cNvSpPr/>
          <p:nvPr/>
        </p:nvSpPr>
        <p:spPr>
          <a:xfrm>
            <a:off x="320040" y="8950677"/>
            <a:ext cx="274320" cy="274320"/>
          </a:xfrm>
          <a:prstGeom prst="ellipse">
            <a:avLst/>
          </a:prstGeom>
          <a:solidFill>
            <a:srgbClr val="C3D6C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1" name="Text 69">
            <a:extLst>
              <a:ext uri="{FF2B5EF4-FFF2-40B4-BE49-F238E27FC236}">
                <a16:creationId xmlns:a16="http://schemas.microsoft.com/office/drawing/2014/main" id="{F77593DC-CE73-2789-049B-E8B34166A152}"/>
              </a:ext>
            </a:extLst>
          </p:cNvPr>
          <p:cNvSpPr/>
          <p:nvPr/>
        </p:nvSpPr>
        <p:spPr>
          <a:xfrm>
            <a:off x="320040" y="894153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😓</a:t>
            </a:r>
          </a:p>
        </p:txBody>
      </p:sp>
      <p:sp>
        <p:nvSpPr>
          <p:cNvPr id="122" name="Text 70">
            <a:extLst>
              <a:ext uri="{FF2B5EF4-FFF2-40B4-BE49-F238E27FC236}">
                <a16:creationId xmlns:a16="http://schemas.microsoft.com/office/drawing/2014/main" id="{655C31D2-9E22-44B4-BB97-28AC535C3FD5}"/>
              </a:ext>
            </a:extLst>
          </p:cNvPr>
          <p:cNvSpPr/>
          <p:nvPr/>
        </p:nvSpPr>
        <p:spPr>
          <a:xfrm>
            <a:off x="667512" y="8895813"/>
            <a:ext cx="2939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 err="1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簡単ではありません</a:t>
            </a: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…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AIにアプリを作らせるには、様々な問題が起こることを想定する必要があります。便利ですが、誰もが容易には使えません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3" name="Shape 71">
            <a:extLst>
              <a:ext uri="{FF2B5EF4-FFF2-40B4-BE49-F238E27FC236}">
                <a16:creationId xmlns:a16="http://schemas.microsoft.com/office/drawing/2014/main" id="{F73A234E-11AE-EEF9-F130-7286E19E8C07}"/>
              </a:ext>
            </a:extLst>
          </p:cNvPr>
          <p:cNvSpPr/>
          <p:nvPr/>
        </p:nvSpPr>
        <p:spPr>
          <a:xfrm>
            <a:off x="320040" y="9453597"/>
            <a:ext cx="274320" cy="274320"/>
          </a:xfrm>
          <a:prstGeom prst="ellipse">
            <a:avLst/>
          </a:prstGeom>
          <a:solidFill>
            <a:srgbClr val="C3D6C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4" name="Text 72">
            <a:extLst>
              <a:ext uri="{FF2B5EF4-FFF2-40B4-BE49-F238E27FC236}">
                <a16:creationId xmlns:a16="http://schemas.microsoft.com/office/drawing/2014/main" id="{BC55756C-BC8A-D36D-9ABA-F3A9893ABA37}"/>
              </a:ext>
            </a:extLst>
          </p:cNvPr>
          <p:cNvSpPr/>
          <p:nvPr/>
        </p:nvSpPr>
        <p:spPr>
          <a:xfrm>
            <a:off x="320040" y="94444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♾️</a:t>
            </a:r>
          </a:p>
        </p:txBody>
      </p:sp>
      <p:sp>
        <p:nvSpPr>
          <p:cNvPr id="125" name="Text 73">
            <a:extLst>
              <a:ext uri="{FF2B5EF4-FFF2-40B4-BE49-F238E27FC236}">
                <a16:creationId xmlns:a16="http://schemas.microsoft.com/office/drawing/2014/main" id="{AC7F0642-76B4-029A-77CB-06D99553083C}"/>
              </a:ext>
            </a:extLst>
          </p:cNvPr>
          <p:cNvSpPr/>
          <p:nvPr/>
        </p:nvSpPr>
        <p:spPr>
          <a:xfrm>
            <a:off x="667512" y="9398733"/>
            <a:ext cx="2939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 err="1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動かすことと、動かし続けることは違う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作ったものを動かし続けるための工夫をAIに伝え、その工夫が実践されていることを確認する必要があります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36" name="グラフィックス 135">
            <a:extLst>
              <a:ext uri="{FF2B5EF4-FFF2-40B4-BE49-F238E27FC236}">
                <a16:creationId xmlns:a16="http://schemas.microsoft.com/office/drawing/2014/main" id="{A30708B6-F1A5-04E2-4EA6-9971EDC8D1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168" y="85176"/>
            <a:ext cx="717592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709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6BFC-AC2F-DE76-62F3-3A0471302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4">
            <a:extLst>
              <a:ext uri="{FF2B5EF4-FFF2-40B4-BE49-F238E27FC236}">
                <a16:creationId xmlns:a16="http://schemas.microsoft.com/office/drawing/2014/main" id="{CAA8CB8A-6B67-EC9B-49F4-5C9321A9720A}"/>
              </a:ext>
            </a:extLst>
          </p:cNvPr>
          <p:cNvSpPr/>
          <p:nvPr/>
        </p:nvSpPr>
        <p:spPr>
          <a:xfrm>
            <a:off x="201168" y="4261104"/>
            <a:ext cx="3506724" cy="3527982"/>
          </a:xfrm>
          <a:prstGeom prst="roundRect">
            <a:avLst>
              <a:gd name="adj" fmla="val 1565"/>
            </a:avLst>
          </a:prstGeom>
          <a:solidFill>
            <a:srgbClr val="F6F1E9"/>
          </a:solidFill>
          <a:ln/>
          <a:effectLst>
            <a:outerShdw blurRad="63500" dist="19050" dir="5400000" algn="bl" rotWithShape="0">
              <a:srgbClr val="9A92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6" name="Shape 35">
            <a:extLst>
              <a:ext uri="{FF2B5EF4-FFF2-40B4-BE49-F238E27FC236}">
                <a16:creationId xmlns:a16="http://schemas.microsoft.com/office/drawing/2014/main" id="{842E119D-D143-2F6E-F309-2C0ABC125E03}"/>
              </a:ext>
            </a:extLst>
          </p:cNvPr>
          <p:cNvSpPr/>
          <p:nvPr/>
        </p:nvSpPr>
        <p:spPr>
          <a:xfrm>
            <a:off x="244530" y="4842424"/>
            <a:ext cx="3420000" cy="6480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1D5624B7-3791-8BE0-30E9-1FD639FE0DD8}"/>
              </a:ext>
            </a:extLst>
          </p:cNvPr>
          <p:cNvSpPr/>
          <p:nvPr/>
        </p:nvSpPr>
        <p:spPr>
          <a:xfrm>
            <a:off x="0" y="0"/>
            <a:ext cx="7562088" cy="111556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7C9D16-41F6-8E25-6740-F9BAE6690515}"/>
              </a:ext>
            </a:extLst>
          </p:cNvPr>
          <p:cNvSpPr/>
          <p:nvPr/>
        </p:nvSpPr>
        <p:spPr>
          <a:xfrm>
            <a:off x="0" y="96429"/>
            <a:ext cx="7562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🍽️ Welfare TIME</a:t>
            </a:r>
            <a:endParaRPr lang="en-US" sz="3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BFB38C-6CFA-E4F9-9E3F-DD4F87FD7650}"/>
              </a:ext>
            </a:extLst>
          </p:cNvPr>
          <p:cNvSpPr/>
          <p:nvPr/>
        </p:nvSpPr>
        <p:spPr>
          <a:xfrm>
            <a:off x="0" y="593529"/>
            <a:ext cx="7562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「今日の学食、どこ開いてる？」に 1秒で答える Web サービス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BBB0760-BF16-FE6B-BFD0-ABECEB65D9C0}"/>
              </a:ext>
            </a:extLst>
          </p:cNvPr>
          <p:cNvSpPr/>
          <p:nvPr/>
        </p:nvSpPr>
        <p:spPr>
          <a:xfrm>
            <a:off x="0" y="859536"/>
            <a:ext cx="7562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6DCD4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Welfare Time &amp; Information for Modern Education ── 京都産業大学の食堂・コンビニ・キッチンカー営業情報ナビ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0F55F05-04D6-B021-EECD-6F673EB9C0D3}"/>
              </a:ext>
            </a:extLst>
          </p:cNvPr>
          <p:cNvSpPr/>
          <p:nvPr/>
        </p:nvSpPr>
        <p:spPr>
          <a:xfrm>
            <a:off x="201168" y="1225296"/>
            <a:ext cx="3506724" cy="1627632"/>
          </a:xfrm>
          <a:prstGeom prst="roundRect">
            <a:avLst>
              <a:gd name="adj" fmla="val 3371"/>
            </a:avLst>
          </a:prstGeom>
          <a:solidFill>
            <a:srgbClr val="F6F1E9"/>
          </a:solidFill>
          <a:ln/>
          <a:effectLst>
            <a:outerShdw blurRad="63500" dist="19050" dir="5400000" algn="bl" rotWithShape="0">
              <a:srgbClr val="9A92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B87472D-57FF-3B17-E547-2F7C574B8089}"/>
              </a:ext>
            </a:extLst>
          </p:cNvPr>
          <p:cNvSpPr/>
          <p:nvPr/>
        </p:nvSpPr>
        <p:spPr>
          <a:xfrm>
            <a:off x="310896" y="1316736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F2DB77D-C024-21A4-B448-A9CB904124EC}"/>
              </a:ext>
            </a:extLst>
          </p:cNvPr>
          <p:cNvSpPr/>
          <p:nvPr/>
        </p:nvSpPr>
        <p:spPr>
          <a:xfrm>
            <a:off x="310896" y="1307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🍽️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42B7D87-DE66-FFFD-6B2C-0319CB6DE2A7}"/>
              </a:ext>
            </a:extLst>
          </p:cNvPr>
          <p:cNvSpPr/>
          <p:nvPr/>
        </p:nvSpPr>
        <p:spPr>
          <a:xfrm>
            <a:off x="694944" y="1316736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Welfare TIME とは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2792707-E1FB-70B7-81FB-36092A935D19}"/>
              </a:ext>
            </a:extLst>
          </p:cNvPr>
          <p:cNvSpPr/>
          <p:nvPr/>
        </p:nvSpPr>
        <p:spPr>
          <a:xfrm>
            <a:off x="310896" y="1700784"/>
            <a:ext cx="3287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京都産業大学の食堂・コンビニ・ショップ・キッチンカーの</a:t>
            </a:r>
            <a:r>
              <a:rPr lang="en-US" sz="8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「今日の営業情報」</a:t>
            </a: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を 1 ページに集約した Web サービスです。毎朝 8 時ごろに自動更新され、現在時刻に合わせて営業状況を判定します。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BD9799C-4394-FF1B-4CB1-74948D17636D}"/>
              </a:ext>
            </a:extLst>
          </p:cNvPr>
          <p:cNvSpPr/>
          <p:nvPr/>
        </p:nvSpPr>
        <p:spPr>
          <a:xfrm>
            <a:off x="310896" y="2286000"/>
            <a:ext cx="1059180" cy="457200"/>
          </a:xfrm>
          <a:prstGeom prst="roundRect">
            <a:avLst>
              <a:gd name="adj" fmla="val 10000"/>
            </a:avLst>
          </a:prstGeom>
          <a:solidFill>
            <a:srgbClr val="E3F0E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399EE61-E6EB-2B3C-82DC-F0DE1C262869}"/>
              </a:ext>
            </a:extLst>
          </p:cNvPr>
          <p:cNvSpPr/>
          <p:nvPr/>
        </p:nvSpPr>
        <p:spPr>
          <a:xfrm>
            <a:off x="338328" y="2319252"/>
            <a:ext cx="100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2E6B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🟢 営業中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いま開いています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AD8B6A9-E741-56E5-0D86-9AF66F7FCF0E}"/>
              </a:ext>
            </a:extLst>
          </p:cNvPr>
          <p:cNvSpPr/>
          <p:nvPr/>
        </p:nvSpPr>
        <p:spPr>
          <a:xfrm>
            <a:off x="1424940" y="2286000"/>
            <a:ext cx="1059180" cy="457200"/>
          </a:xfrm>
          <a:prstGeom prst="roundRect">
            <a:avLst>
              <a:gd name="adj" fmla="val 10000"/>
            </a:avLst>
          </a:prstGeom>
          <a:solidFill>
            <a:srgbClr val="FCF3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ECABFA0-FB3E-C43C-3317-9E3DDE006EC3}"/>
              </a:ext>
            </a:extLst>
          </p:cNvPr>
          <p:cNvSpPr/>
          <p:nvPr/>
        </p:nvSpPr>
        <p:spPr>
          <a:xfrm>
            <a:off x="1452372" y="2319252"/>
            <a:ext cx="100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8A6A12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🟡 準備中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開店前や未来の</a:t>
            </a:r>
            <a:b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</a:b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日付です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439C172-36F5-9756-F407-55A8C6017678}"/>
              </a:ext>
            </a:extLst>
          </p:cNvPr>
          <p:cNvSpPr/>
          <p:nvPr/>
        </p:nvSpPr>
        <p:spPr>
          <a:xfrm>
            <a:off x="2538984" y="2286000"/>
            <a:ext cx="1059180" cy="457200"/>
          </a:xfrm>
          <a:prstGeom prst="roundRect">
            <a:avLst>
              <a:gd name="adj" fmla="val 10000"/>
            </a:avLst>
          </a:prstGeom>
          <a:solidFill>
            <a:srgbClr val="E1EA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3C9C143-2338-1535-B60D-FFB2F20BBD7E}"/>
              </a:ext>
            </a:extLst>
          </p:cNvPr>
          <p:cNvSpPr/>
          <p:nvPr/>
        </p:nvSpPr>
        <p:spPr>
          <a:xfrm>
            <a:off x="2566416" y="2319252"/>
            <a:ext cx="100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2F5386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🔵 営業終了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今日の営業は</a:t>
            </a:r>
            <a:b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</a:b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終わりました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4646BA1-DA89-3872-010F-DA080D9ED648}"/>
              </a:ext>
            </a:extLst>
          </p:cNvPr>
          <p:cNvSpPr/>
          <p:nvPr/>
        </p:nvSpPr>
        <p:spPr>
          <a:xfrm>
            <a:off x="201168" y="2926080"/>
            <a:ext cx="3506724" cy="1261872"/>
          </a:xfrm>
          <a:prstGeom prst="roundRect">
            <a:avLst>
              <a:gd name="adj" fmla="val 4348"/>
            </a:avLst>
          </a:prstGeom>
          <a:solidFill>
            <a:srgbClr val="F6F1E9"/>
          </a:solidFill>
          <a:ln/>
          <a:effectLst>
            <a:outerShdw blurRad="63500" dist="19050" dir="5400000" algn="bl" rotWithShape="0">
              <a:srgbClr val="9A92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BE76797-F17A-17C6-4F89-495760181E48}"/>
              </a:ext>
            </a:extLst>
          </p:cNvPr>
          <p:cNvSpPr/>
          <p:nvPr/>
        </p:nvSpPr>
        <p:spPr>
          <a:xfrm>
            <a:off x="310896" y="3017520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00BEF09-9538-895F-5E64-47C99C5CCCAC}"/>
              </a:ext>
            </a:extLst>
          </p:cNvPr>
          <p:cNvSpPr/>
          <p:nvPr/>
        </p:nvSpPr>
        <p:spPr>
          <a:xfrm>
            <a:off x="310896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😵</a:t>
            </a:r>
            <a:endParaRPr lang="en-US" sz="13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4770752-4F6F-1688-E50C-F7258181F9D1}"/>
              </a:ext>
            </a:extLst>
          </p:cNvPr>
          <p:cNvSpPr/>
          <p:nvPr/>
        </p:nvSpPr>
        <p:spPr>
          <a:xfrm>
            <a:off x="694944" y="301752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きっかけ ── 情報がバラバラ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85D2B24-C860-7CB5-3E6F-22DF908A4EEA}"/>
              </a:ext>
            </a:extLst>
          </p:cNvPr>
          <p:cNvSpPr/>
          <p:nvPr/>
        </p:nvSpPr>
        <p:spPr>
          <a:xfrm>
            <a:off x="310896" y="3401568"/>
            <a:ext cx="1517904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8CFC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44480C5-EA96-7F05-4A7C-8F66E78528AD}"/>
              </a:ext>
            </a:extLst>
          </p:cNvPr>
          <p:cNvSpPr/>
          <p:nvPr/>
        </p:nvSpPr>
        <p:spPr>
          <a:xfrm>
            <a:off x="374904" y="3401568"/>
            <a:ext cx="1389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📄 学食の予定は PDF、🚚 キッチンカーは別サイトにあります。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毎日チェックするのは大変です…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7DCF98A-5C3B-B86E-B14A-F0008D139067}"/>
              </a:ext>
            </a:extLst>
          </p:cNvPr>
          <p:cNvSpPr/>
          <p:nvPr/>
        </p:nvSpPr>
        <p:spPr>
          <a:xfrm>
            <a:off x="1883664" y="3648456"/>
            <a:ext cx="237744" cy="182880"/>
          </a:xfrm>
          <a:prstGeom prst="rightArrow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A85356B-53CF-7B4A-016E-95986DA02A60}"/>
              </a:ext>
            </a:extLst>
          </p:cNvPr>
          <p:cNvSpPr/>
          <p:nvPr/>
        </p:nvSpPr>
        <p:spPr>
          <a:xfrm>
            <a:off x="2194560" y="3401568"/>
            <a:ext cx="1399032" cy="676656"/>
          </a:xfrm>
          <a:prstGeom prst="roundRect">
            <a:avLst>
              <a:gd name="adj" fmla="val 6757"/>
            </a:avLst>
          </a:prstGeom>
          <a:solidFill>
            <a:srgbClr val="DCE7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D1B5C6B-C9D3-2C27-862B-0DB5355AE236}"/>
              </a:ext>
            </a:extLst>
          </p:cNvPr>
          <p:cNvSpPr/>
          <p:nvPr/>
        </p:nvSpPr>
        <p:spPr>
          <a:xfrm>
            <a:off x="2258568" y="3401568"/>
            <a:ext cx="13121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✨ Welfare TIME </a:t>
            </a:r>
            <a:r>
              <a:rPr lang="en-US" sz="800" b="1" dirty="0" err="1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が集めてひとつの画面と</a:t>
            </a: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 API に統合します。</a:t>
            </a: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見る場所は、ここだけです。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FD1906C-5A53-8D00-5917-DFD3E0831D64}"/>
              </a:ext>
            </a:extLst>
          </p:cNvPr>
          <p:cNvSpPr/>
          <p:nvPr/>
        </p:nvSpPr>
        <p:spPr>
          <a:xfrm>
            <a:off x="310896" y="4352544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489A647-135E-EB73-BAEA-7C7EDBF6217C}"/>
              </a:ext>
            </a:extLst>
          </p:cNvPr>
          <p:cNvSpPr/>
          <p:nvPr/>
        </p:nvSpPr>
        <p:spPr>
          <a:xfrm>
            <a:off x="310896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</a:t>
            </a:r>
            <a:endParaRPr lang="en-US" sz="13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04A8527-6DEA-2C1A-774C-2C8B6797C355}"/>
              </a:ext>
            </a:extLst>
          </p:cNvPr>
          <p:cNvSpPr/>
          <p:nvPr/>
        </p:nvSpPr>
        <p:spPr>
          <a:xfrm>
            <a:off x="694944" y="4352544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しくみ ── データパイプライン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E303D87-14B2-C14B-1984-8020E4AF5888}"/>
              </a:ext>
            </a:extLst>
          </p:cNvPr>
          <p:cNvSpPr/>
          <p:nvPr/>
        </p:nvSpPr>
        <p:spPr>
          <a:xfrm>
            <a:off x="310896" y="4700016"/>
            <a:ext cx="32872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毎朝、人の手をいっさい借りずに、この流れが全自動で動きます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F2B589B-AB70-F9FC-2213-E66373358890}"/>
              </a:ext>
            </a:extLst>
          </p:cNvPr>
          <p:cNvSpPr/>
          <p:nvPr/>
        </p:nvSpPr>
        <p:spPr>
          <a:xfrm>
            <a:off x="288907" y="4892104"/>
            <a:ext cx="1620000" cy="548640"/>
          </a:xfrm>
          <a:prstGeom prst="roundRect">
            <a:avLst>
              <a:gd name="adj" fmla="val 8333"/>
            </a:avLst>
          </a:prstGeom>
          <a:solidFill>
            <a:srgbClr val="DCE7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65FB722-4016-71A2-9CD1-B8AA25551339}"/>
              </a:ext>
            </a:extLst>
          </p:cNvPr>
          <p:cNvSpPr/>
          <p:nvPr/>
        </p:nvSpPr>
        <p:spPr>
          <a:xfrm>
            <a:off x="358243" y="4892104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📄 大学公式サイト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営業時間の PDF があります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FD2F3363-24EC-F97D-954F-234EEB4BEF77}"/>
              </a:ext>
            </a:extLst>
          </p:cNvPr>
          <p:cNvSpPr/>
          <p:nvPr/>
        </p:nvSpPr>
        <p:spPr>
          <a:xfrm>
            <a:off x="2000153" y="4892104"/>
            <a:ext cx="1620000" cy="548640"/>
          </a:xfrm>
          <a:prstGeom prst="roundRect">
            <a:avLst>
              <a:gd name="adj" fmla="val 8333"/>
            </a:avLst>
          </a:prstGeom>
          <a:solidFill>
            <a:srgbClr val="DCE7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E3B6ED5-0B5B-BDAA-7623-B58C6C6D2C0F}"/>
              </a:ext>
            </a:extLst>
          </p:cNvPr>
          <p:cNvSpPr/>
          <p:nvPr/>
        </p:nvSpPr>
        <p:spPr>
          <a:xfrm>
            <a:off x="2055773" y="489210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🚚 キッチンカー情報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出店予定が Mellow にあります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A5F6C668-7149-7EB7-0D3E-78F403D8B591}"/>
              </a:ext>
            </a:extLst>
          </p:cNvPr>
          <p:cNvSpPr/>
          <p:nvPr/>
        </p:nvSpPr>
        <p:spPr>
          <a:xfrm>
            <a:off x="538168" y="5533854"/>
            <a:ext cx="164592" cy="274320"/>
          </a:xfrm>
          <a:prstGeom prst="downArrow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2B781B5-3FA0-C543-522C-9A473F1548C3}"/>
              </a:ext>
            </a:extLst>
          </p:cNvPr>
          <p:cNvSpPr/>
          <p:nvPr/>
        </p:nvSpPr>
        <p:spPr>
          <a:xfrm>
            <a:off x="748480" y="5533854"/>
            <a:ext cx="9209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F8272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① Fetch ── </a:t>
            </a:r>
            <a:br>
              <a:rPr lang="en-US" sz="800" b="1" dirty="0">
                <a:solidFill>
                  <a:srgbClr val="5F8272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</a:br>
            <a:r>
              <a:rPr lang="en-US" sz="800" b="1" dirty="0" err="1">
                <a:solidFill>
                  <a:srgbClr val="5F8272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自動で取得します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105" name="グループ化 104">
            <a:extLst>
              <a:ext uri="{FF2B5EF4-FFF2-40B4-BE49-F238E27FC236}">
                <a16:creationId xmlns:a16="http://schemas.microsoft.com/office/drawing/2014/main" id="{7EEB36CE-FD47-EE4E-E994-3A9D17977C6C}"/>
              </a:ext>
            </a:extLst>
          </p:cNvPr>
          <p:cNvGrpSpPr/>
          <p:nvPr/>
        </p:nvGrpSpPr>
        <p:grpSpPr>
          <a:xfrm>
            <a:off x="538168" y="6622258"/>
            <a:ext cx="1024478" cy="274320"/>
            <a:chOff x="652981" y="6596789"/>
            <a:chExt cx="1024478" cy="274320"/>
          </a:xfrm>
        </p:grpSpPr>
        <p:sp>
          <p:nvSpPr>
            <p:cNvPr id="40" name="Shape 38">
              <a:extLst>
                <a:ext uri="{FF2B5EF4-FFF2-40B4-BE49-F238E27FC236}">
                  <a16:creationId xmlns:a16="http://schemas.microsoft.com/office/drawing/2014/main" id="{C0EDDB7C-5505-87A5-5CCC-2772D128C704}"/>
                </a:ext>
              </a:extLst>
            </p:cNvPr>
            <p:cNvSpPr/>
            <p:nvPr/>
          </p:nvSpPr>
          <p:spPr>
            <a:xfrm>
              <a:off x="652981" y="6596789"/>
              <a:ext cx="164592" cy="274320"/>
            </a:xfrm>
            <a:prstGeom prst="downArrow">
              <a:avLst/>
            </a:prstGeom>
            <a:solidFill>
              <a:srgbClr val="B85042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1" name="Text 39">
              <a:extLst>
                <a:ext uri="{FF2B5EF4-FFF2-40B4-BE49-F238E27FC236}">
                  <a16:creationId xmlns:a16="http://schemas.microsoft.com/office/drawing/2014/main" id="{7AA25BFB-77C0-6563-F32C-18F41A2416B4}"/>
                </a:ext>
              </a:extLst>
            </p:cNvPr>
            <p:cNvSpPr/>
            <p:nvPr/>
          </p:nvSpPr>
          <p:spPr>
            <a:xfrm>
              <a:off x="863293" y="6596789"/>
              <a:ext cx="81416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800" b="1" dirty="0" err="1">
                  <a:solidFill>
                    <a:srgbClr val="5F8272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Yu Gothic" pitchFamily="34" charset="-120"/>
                </a:rPr>
                <a:t>表記ゆれを</a:t>
              </a:r>
              <a:br>
                <a:rPr lang="en-US" sz="800" b="1" dirty="0">
                  <a:solidFill>
                    <a:srgbClr val="5F8272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Yu Gothic" pitchFamily="34" charset="-120"/>
                </a:rPr>
              </a:br>
              <a:r>
                <a:rPr lang="en-US" sz="800" b="1" dirty="0" err="1">
                  <a:solidFill>
                    <a:srgbClr val="5F8272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Yu Gothic" pitchFamily="34" charset="-120"/>
                </a:rPr>
                <a:t>正規化します</a:t>
              </a:r>
              <a:endParaRPr lang="en-US" sz="800" dirty="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45" name="Shape 43">
            <a:extLst>
              <a:ext uri="{FF2B5EF4-FFF2-40B4-BE49-F238E27FC236}">
                <a16:creationId xmlns:a16="http://schemas.microsoft.com/office/drawing/2014/main" id="{7B5FF45C-495C-8FCA-1474-EF4058E7BE6E}"/>
              </a:ext>
            </a:extLst>
          </p:cNvPr>
          <p:cNvSpPr/>
          <p:nvPr/>
        </p:nvSpPr>
        <p:spPr>
          <a:xfrm rot="13500000">
            <a:off x="1872234" y="6622258"/>
            <a:ext cx="164592" cy="274320"/>
          </a:xfrm>
          <a:prstGeom prst="downArrow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E9F74DB5-59D5-7FC0-7F01-995553B27AC2}"/>
              </a:ext>
            </a:extLst>
          </p:cNvPr>
          <p:cNvSpPr/>
          <p:nvPr/>
        </p:nvSpPr>
        <p:spPr>
          <a:xfrm>
            <a:off x="2109709" y="5625563"/>
            <a:ext cx="1434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F8272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できたファイルを置くだけです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C2FE4805-8348-3223-0F1F-5E711719DA4F}"/>
              </a:ext>
            </a:extLst>
          </p:cNvPr>
          <p:cNvSpPr/>
          <p:nvPr/>
        </p:nvSpPr>
        <p:spPr>
          <a:xfrm>
            <a:off x="288810" y="5853894"/>
            <a:ext cx="1620000" cy="7200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C9D5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4FEECB3B-2975-4646-C37E-D0F6D31538B4}"/>
              </a:ext>
            </a:extLst>
          </p:cNvPr>
          <p:cNvSpPr/>
          <p:nvPr/>
        </p:nvSpPr>
        <p:spPr>
          <a:xfrm>
            <a:off x="325386" y="5853894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🐍</a:t>
            </a:r>
            <a:endParaRPr lang="en-US" sz="13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B89B17F1-7A78-6FCE-D147-8132455B458E}"/>
              </a:ext>
            </a:extLst>
          </p:cNvPr>
          <p:cNvSpPr/>
          <p:nvPr/>
        </p:nvSpPr>
        <p:spPr>
          <a:xfrm>
            <a:off x="2000250" y="5853894"/>
            <a:ext cx="1620000" cy="720000"/>
          </a:xfrm>
          <a:prstGeom prst="roundRect">
            <a:avLst>
              <a:gd name="adj" fmla="val 6410"/>
            </a:avLst>
          </a:prstGeom>
          <a:solidFill>
            <a:schemeClr val="bg1"/>
          </a:solidFill>
          <a:ln w="9525">
            <a:solidFill>
              <a:srgbClr val="C9D5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B3625B11-A0CF-202F-C59B-2BBFDD6E79DA}"/>
              </a:ext>
            </a:extLst>
          </p:cNvPr>
          <p:cNvSpPr/>
          <p:nvPr/>
        </p:nvSpPr>
        <p:spPr>
          <a:xfrm>
            <a:off x="2036826" y="5853894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📦</a:t>
            </a:r>
            <a:endParaRPr lang="en-US" sz="13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3EBD0DA3-D059-FA4A-310B-5CF1DF16F7FD}"/>
              </a:ext>
            </a:extLst>
          </p:cNvPr>
          <p:cNvSpPr/>
          <p:nvPr/>
        </p:nvSpPr>
        <p:spPr>
          <a:xfrm>
            <a:off x="3081877" y="6622258"/>
            <a:ext cx="164592" cy="274320"/>
          </a:xfrm>
          <a:prstGeom prst="downArrow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FDCF5424-0C0F-2629-2D86-64061DB7F537}"/>
              </a:ext>
            </a:extLst>
          </p:cNvPr>
          <p:cNvSpPr/>
          <p:nvPr/>
        </p:nvSpPr>
        <p:spPr>
          <a:xfrm>
            <a:off x="2420874" y="6622258"/>
            <a:ext cx="674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F8272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だれでも GET できます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85203598-E8B7-2C16-6497-D425A9944B85}"/>
              </a:ext>
            </a:extLst>
          </p:cNvPr>
          <p:cNvSpPr/>
          <p:nvPr/>
        </p:nvSpPr>
        <p:spPr>
          <a:xfrm>
            <a:off x="288810" y="6951174"/>
            <a:ext cx="1620000" cy="7200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C9D5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02564E2D-4F99-3654-866E-142BBE917E24}"/>
              </a:ext>
            </a:extLst>
          </p:cNvPr>
          <p:cNvSpPr/>
          <p:nvPr/>
        </p:nvSpPr>
        <p:spPr>
          <a:xfrm>
            <a:off x="325386" y="6951174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🧩</a:t>
            </a:r>
            <a:endParaRPr lang="en-US" sz="13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0CE9053B-3FB2-397A-9E3C-1B8BF33D3324}"/>
              </a:ext>
            </a:extLst>
          </p:cNvPr>
          <p:cNvSpPr/>
          <p:nvPr/>
        </p:nvSpPr>
        <p:spPr>
          <a:xfrm>
            <a:off x="2000250" y="6951174"/>
            <a:ext cx="1620000" cy="720000"/>
          </a:xfrm>
          <a:prstGeom prst="roundRect">
            <a:avLst>
              <a:gd name="adj" fmla="val 6410"/>
            </a:avLst>
          </a:prstGeom>
          <a:solidFill>
            <a:schemeClr val="bg1"/>
          </a:solidFill>
          <a:ln w="9525">
            <a:solidFill>
              <a:srgbClr val="C9D5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1610ED2D-0183-BE71-0C0D-E0AB6A2FAEAA}"/>
              </a:ext>
            </a:extLst>
          </p:cNvPr>
          <p:cNvSpPr/>
          <p:nvPr/>
        </p:nvSpPr>
        <p:spPr>
          <a:xfrm>
            <a:off x="2036826" y="6951174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🌐</a:t>
            </a:r>
            <a:endParaRPr lang="en-US" sz="130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DB50046B-1CE0-8D47-31F3-1DE473D00F70}"/>
              </a:ext>
            </a:extLst>
          </p:cNvPr>
          <p:cNvSpPr/>
          <p:nvPr/>
        </p:nvSpPr>
        <p:spPr>
          <a:xfrm>
            <a:off x="3854196" y="1225296"/>
            <a:ext cx="3506724" cy="2962656"/>
          </a:xfrm>
          <a:prstGeom prst="roundRect">
            <a:avLst>
              <a:gd name="adj" fmla="val 1863"/>
            </a:avLst>
          </a:prstGeom>
          <a:solidFill>
            <a:srgbClr val="F6F1E9"/>
          </a:solidFill>
          <a:ln/>
          <a:effectLst>
            <a:outerShdw blurRad="63500" dist="19050" dir="5400000" algn="bl" rotWithShape="0">
              <a:srgbClr val="9A92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B29F4745-DC28-2800-086B-84A60809743C}"/>
              </a:ext>
            </a:extLst>
          </p:cNvPr>
          <p:cNvSpPr/>
          <p:nvPr/>
        </p:nvSpPr>
        <p:spPr>
          <a:xfrm>
            <a:off x="3963924" y="1316736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C88B3FD3-64DD-EABA-AB92-FF73F5F86E3E}"/>
              </a:ext>
            </a:extLst>
          </p:cNvPr>
          <p:cNvSpPr/>
          <p:nvPr/>
        </p:nvSpPr>
        <p:spPr>
          <a:xfrm>
            <a:off x="3963924" y="1307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💻</a:t>
            </a:r>
            <a:endParaRPr lang="en-US" sz="13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A3A4D853-FB84-FFC0-A814-AE2A2274D977}"/>
              </a:ext>
            </a:extLst>
          </p:cNvPr>
          <p:cNvSpPr/>
          <p:nvPr/>
        </p:nvSpPr>
        <p:spPr>
          <a:xfrm>
            <a:off x="4347972" y="1316736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3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REST API ってなに？</a:t>
            </a:r>
            <a:endParaRPr lang="en-US" sz="13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6CDC04FD-1FE7-CC36-1797-7BA1E183F92B}"/>
              </a:ext>
            </a:extLst>
          </p:cNvPr>
          <p:cNvSpPr/>
          <p:nvPr/>
        </p:nvSpPr>
        <p:spPr>
          <a:xfrm>
            <a:off x="3963924" y="1700784"/>
            <a:ext cx="32872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API</a:t>
            </a: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 とは「プログラム同士が話すための窓口」です。その中でも </a:t>
            </a:r>
            <a:r>
              <a:rPr lang="en-US" sz="8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REST</a:t>
            </a: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 は、Web ページを見るときと同じしくみ（HTTP）をそのまま使う設計スタイルです。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・URL が「もの」を表します（</a:t>
            </a:r>
            <a:r>
              <a:rPr lang="en-US" sz="800" dirty="0">
                <a:solidFill>
                  <a:srgbClr val="33302E"/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/api/shops</a:t>
            </a: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 なら店舗一覧）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・GET などの決まった動詞でお願いします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・返事はどの言語からも読める JSON 形式を採用しています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61961145-EAED-1980-35CC-D2859B3F7ABF}"/>
              </a:ext>
            </a:extLst>
          </p:cNvPr>
          <p:cNvSpPr/>
          <p:nvPr/>
        </p:nvSpPr>
        <p:spPr>
          <a:xfrm>
            <a:off x="3963924" y="2651760"/>
            <a:ext cx="3287268" cy="1188720"/>
          </a:xfrm>
          <a:prstGeom prst="roundRect">
            <a:avLst>
              <a:gd name="adj" fmla="val 3846"/>
            </a:avLst>
          </a:prstGeom>
          <a:solidFill>
            <a:srgbClr val="2B292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AADF3700-B65A-F323-07BE-2A7125E61A57}"/>
              </a:ext>
            </a:extLst>
          </p:cNvPr>
          <p:cNvSpPr/>
          <p:nvPr/>
        </p:nvSpPr>
        <p:spPr>
          <a:xfrm>
            <a:off x="4073652" y="2706624"/>
            <a:ext cx="30678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>
                <a:solidFill>
                  <a:srgbClr val="8FD3A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GET https</a:t>
            </a:r>
            <a:r>
              <a:rPr lang="en-US" sz="800" dirty="0">
                <a:solidFill>
                  <a:srgbClr val="8FD3A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://tamadalab.github.io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FD3A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      /welfare-time/api/schedule/today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DE8E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{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DE8E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"date": "2026-05-18",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DE8E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"cafeterias": [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DE8E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  { "name": "食堂",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DE8E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    "business_hours": "11:00～14:00" } ], …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DE8E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}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7470E76C-0E66-2E7B-AD8A-58086B742213}"/>
              </a:ext>
            </a:extLst>
          </p:cNvPr>
          <p:cNvSpPr/>
          <p:nvPr/>
        </p:nvSpPr>
        <p:spPr>
          <a:xfrm>
            <a:off x="3963924" y="3895344"/>
            <a:ext cx="32872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F8272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👆 ブラウザでこの URL を開くだけで、実際に結果を見られます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90AD61B4-D798-77AD-5A69-7B7CC4B739E0}"/>
              </a:ext>
            </a:extLst>
          </p:cNvPr>
          <p:cNvSpPr/>
          <p:nvPr/>
        </p:nvSpPr>
        <p:spPr>
          <a:xfrm>
            <a:off x="3854196" y="4261104"/>
            <a:ext cx="3506724" cy="2523744"/>
          </a:xfrm>
          <a:prstGeom prst="roundRect">
            <a:avLst>
              <a:gd name="adj" fmla="val 2158"/>
            </a:avLst>
          </a:prstGeom>
          <a:solidFill>
            <a:srgbClr val="F6F1E9"/>
          </a:solidFill>
          <a:ln/>
          <a:effectLst>
            <a:outerShdw blurRad="63500" dist="19050" dir="5400000" algn="bl" rotWithShape="0">
              <a:srgbClr val="9A92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489D3EB0-F4EF-133F-73B7-AD47BBC06223}"/>
              </a:ext>
            </a:extLst>
          </p:cNvPr>
          <p:cNvSpPr/>
          <p:nvPr/>
        </p:nvSpPr>
        <p:spPr>
          <a:xfrm>
            <a:off x="3963924" y="4334256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EA6636EA-0B78-9D6C-C0EA-5359AB926B32}"/>
              </a:ext>
            </a:extLst>
          </p:cNvPr>
          <p:cNvSpPr/>
          <p:nvPr/>
        </p:nvSpPr>
        <p:spPr>
          <a:xfrm>
            <a:off x="3963924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🤔</a:t>
            </a:r>
            <a:endParaRPr lang="en-US" sz="1300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EF8A3807-672B-BF2B-CBED-7D5653F39F6D}"/>
              </a:ext>
            </a:extLst>
          </p:cNvPr>
          <p:cNvSpPr/>
          <p:nvPr/>
        </p:nvSpPr>
        <p:spPr>
          <a:xfrm>
            <a:off x="4347972" y="4334256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なぜ REST にしたの？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B4F3C248-48E2-3572-91D9-CAF207E0156E}"/>
              </a:ext>
            </a:extLst>
          </p:cNvPr>
          <p:cNvSpPr/>
          <p:nvPr/>
        </p:nvSpPr>
        <p:spPr>
          <a:xfrm>
            <a:off x="3963924" y="4773168"/>
            <a:ext cx="274320" cy="274320"/>
          </a:xfrm>
          <a:prstGeom prst="ellipse">
            <a:avLst/>
          </a:prstGeom>
          <a:solidFill>
            <a:srgbClr val="DCE7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3D84F2CB-6EDB-441E-9511-C23686C7E770}"/>
              </a:ext>
            </a:extLst>
          </p:cNvPr>
          <p:cNvSpPr/>
          <p:nvPr/>
        </p:nvSpPr>
        <p:spPr>
          <a:xfrm>
            <a:off x="3963924" y="4764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🔎</a:t>
            </a:r>
            <a:endParaRPr lang="en-US" sz="1300" dirty="0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016FBA6F-0585-637B-FA78-69715061D8DC}"/>
              </a:ext>
            </a:extLst>
          </p:cNvPr>
          <p:cNvSpPr/>
          <p:nvPr/>
        </p:nvSpPr>
        <p:spPr>
          <a:xfrm>
            <a:off x="4311396" y="4718304"/>
            <a:ext cx="2939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URL を見れば意味がわかる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/api/schedule/tomorrow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 は「明日の予定」を表します。仕様書がなくても直感で使えます。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C2FBC07A-D5DF-F4FA-3D91-A8142355E848}"/>
              </a:ext>
            </a:extLst>
          </p:cNvPr>
          <p:cNvSpPr/>
          <p:nvPr/>
        </p:nvSpPr>
        <p:spPr>
          <a:xfrm>
            <a:off x="3963924" y="5276088"/>
            <a:ext cx="274320" cy="274320"/>
          </a:xfrm>
          <a:prstGeom prst="ellipse">
            <a:avLst/>
          </a:prstGeom>
          <a:solidFill>
            <a:srgbClr val="DCE7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719C6575-A20E-7DE3-0218-4277D61A6B8C}"/>
              </a:ext>
            </a:extLst>
          </p:cNvPr>
          <p:cNvSpPr/>
          <p:nvPr/>
        </p:nvSpPr>
        <p:spPr>
          <a:xfrm>
            <a:off x="3963924" y="5266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🧪</a:t>
            </a:r>
            <a:endParaRPr lang="en-US" sz="130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6E765E95-EF2C-C8C7-6B5B-BCF9350481EC}"/>
              </a:ext>
            </a:extLst>
          </p:cNvPr>
          <p:cNvSpPr/>
          <p:nvPr/>
        </p:nvSpPr>
        <p:spPr>
          <a:xfrm>
            <a:off x="4311396" y="5221224"/>
            <a:ext cx="2939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ブラウザだけで試せる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特別な道具は要りません。URL をアドレスバーに打てば、その場で動作確認できます。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219F375C-ADE5-F0A1-4468-DAD7E2CD66AB}"/>
              </a:ext>
            </a:extLst>
          </p:cNvPr>
          <p:cNvSpPr/>
          <p:nvPr/>
        </p:nvSpPr>
        <p:spPr>
          <a:xfrm>
            <a:off x="3963924" y="5779008"/>
            <a:ext cx="274320" cy="274320"/>
          </a:xfrm>
          <a:prstGeom prst="ellipse">
            <a:avLst/>
          </a:prstGeom>
          <a:solidFill>
            <a:srgbClr val="DCE7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27A4AF1A-802E-DB1A-B8F0-3AD82408DE35}"/>
              </a:ext>
            </a:extLst>
          </p:cNvPr>
          <p:cNvSpPr/>
          <p:nvPr/>
        </p:nvSpPr>
        <p:spPr>
          <a:xfrm>
            <a:off x="3963924" y="5769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🧩</a:t>
            </a:r>
            <a:endParaRPr lang="en-US" sz="1300" dirty="0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9395C414-A3D9-5513-E1A0-15F987BF0D8D}"/>
              </a:ext>
            </a:extLst>
          </p:cNvPr>
          <p:cNvSpPr/>
          <p:nvPr/>
        </p:nvSpPr>
        <p:spPr>
          <a:xfrm>
            <a:off x="4311396" y="5724144"/>
            <a:ext cx="2939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データと見た目を分けられる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同じ API から、Web でもスマホアプリでもボットでも、自由に作れます。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288D9833-A1FD-1C8F-68FD-3D6930D131B7}"/>
              </a:ext>
            </a:extLst>
          </p:cNvPr>
          <p:cNvSpPr/>
          <p:nvPr/>
        </p:nvSpPr>
        <p:spPr>
          <a:xfrm>
            <a:off x="3963924" y="6281928"/>
            <a:ext cx="274320" cy="274320"/>
          </a:xfrm>
          <a:prstGeom prst="ellipse">
            <a:avLst/>
          </a:prstGeom>
          <a:solidFill>
            <a:srgbClr val="DCE7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F9A2BE22-AD90-5635-4037-4634945400E9}"/>
              </a:ext>
            </a:extLst>
          </p:cNvPr>
          <p:cNvSpPr/>
          <p:nvPr/>
        </p:nvSpPr>
        <p:spPr>
          <a:xfrm>
            <a:off x="3963924" y="6272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🪶</a:t>
            </a:r>
            <a:endParaRPr lang="en-US" sz="1300" dirty="0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B957C64C-C601-AAC1-7864-316655E034E4}"/>
              </a:ext>
            </a:extLst>
          </p:cNvPr>
          <p:cNvSpPr/>
          <p:nvPr/>
        </p:nvSpPr>
        <p:spPr>
          <a:xfrm>
            <a:off x="4311396" y="6227064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静的ファイルと相性が抜群です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作った JSON を置くだけで REST </a:t>
            </a: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になります。速くて、タダで、壊れにくいのです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A15CB639-0EAA-D4A5-3E44-701A5D96B5FC}"/>
              </a:ext>
            </a:extLst>
          </p:cNvPr>
          <p:cNvSpPr/>
          <p:nvPr/>
        </p:nvSpPr>
        <p:spPr>
          <a:xfrm>
            <a:off x="3854196" y="6858000"/>
            <a:ext cx="3506724" cy="1755648"/>
          </a:xfrm>
          <a:prstGeom prst="roundRect">
            <a:avLst>
              <a:gd name="adj" fmla="val 3125"/>
            </a:avLst>
          </a:prstGeom>
          <a:solidFill>
            <a:srgbClr val="F6F1E9"/>
          </a:solidFill>
          <a:ln/>
          <a:effectLst>
            <a:outerShdw blurRad="63500" dist="19050" dir="5400000" algn="bl" rotWithShape="0">
              <a:srgbClr val="9A92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C2DBE150-87A5-0950-EFE4-678061461300}"/>
              </a:ext>
            </a:extLst>
          </p:cNvPr>
          <p:cNvSpPr/>
          <p:nvPr/>
        </p:nvSpPr>
        <p:spPr>
          <a:xfrm>
            <a:off x="3963924" y="6949440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75EA7A9A-CECA-CBB6-8071-13EB9E972E6D}"/>
              </a:ext>
            </a:extLst>
          </p:cNvPr>
          <p:cNvSpPr/>
          <p:nvPr/>
        </p:nvSpPr>
        <p:spPr>
          <a:xfrm>
            <a:off x="3963924" y="6940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🧠</a:t>
            </a:r>
            <a:endParaRPr lang="en-US" sz="1300" dirty="0"/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30FABEAF-B98A-A222-59C5-EDCE05A83FC1}"/>
              </a:ext>
            </a:extLst>
          </p:cNvPr>
          <p:cNvSpPr/>
          <p:nvPr/>
        </p:nvSpPr>
        <p:spPr>
          <a:xfrm>
            <a:off x="4347972" y="694944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設計の思想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5852459A-0AC5-2CD3-1AF4-F0C320A3045C}"/>
              </a:ext>
            </a:extLst>
          </p:cNvPr>
          <p:cNvSpPr/>
          <p:nvPr/>
        </p:nvSpPr>
        <p:spPr>
          <a:xfrm>
            <a:off x="3963924" y="7333488"/>
            <a:ext cx="159791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8CFC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A1C75E4C-B250-5B6A-51B0-2D62D2F821C5}"/>
              </a:ext>
            </a:extLst>
          </p:cNvPr>
          <p:cNvSpPr/>
          <p:nvPr/>
        </p:nvSpPr>
        <p:spPr>
          <a:xfrm>
            <a:off x="4027932" y="7333488"/>
            <a:ext cx="14698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⚡ サーバーレス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重い計算は毎朝 1 回だけです。あとは JSON を配るだけです。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B57E4856-E93C-5FF5-07BC-9E09D62A9918}"/>
              </a:ext>
            </a:extLst>
          </p:cNvPr>
          <p:cNvSpPr/>
          <p:nvPr/>
        </p:nvSpPr>
        <p:spPr>
          <a:xfrm>
            <a:off x="5653278" y="7333488"/>
            <a:ext cx="159791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8CFC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7C37C6EF-04BE-832E-E8D2-2DDF5597E2A6}"/>
              </a:ext>
            </a:extLst>
          </p:cNvPr>
          <p:cNvSpPr/>
          <p:nvPr/>
        </p:nvSpPr>
        <p:spPr>
          <a:xfrm>
            <a:off x="5717286" y="7333488"/>
            <a:ext cx="14698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🤖 全自動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収集から公開まで CI が毎朝実行します。人は何もしません。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8733B33A-2F17-585A-50F3-ACF31B55C3F8}"/>
              </a:ext>
            </a:extLst>
          </p:cNvPr>
          <p:cNvSpPr/>
          <p:nvPr/>
        </p:nvSpPr>
        <p:spPr>
          <a:xfrm>
            <a:off x="3963924" y="7955280"/>
            <a:ext cx="159791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8CFC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03AC200C-867E-407B-1CAD-168CF0FC5985}"/>
              </a:ext>
            </a:extLst>
          </p:cNvPr>
          <p:cNvSpPr/>
          <p:nvPr/>
        </p:nvSpPr>
        <p:spPr>
          <a:xfrm>
            <a:off x="4027932" y="7955280"/>
            <a:ext cx="13510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📏 正規化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表記ゆれを共通ルールで統一し、品質を守っています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E215E65D-6185-1807-DBD0-F37E650D6361}"/>
              </a:ext>
            </a:extLst>
          </p:cNvPr>
          <p:cNvSpPr/>
          <p:nvPr/>
        </p:nvSpPr>
        <p:spPr>
          <a:xfrm>
            <a:off x="5653278" y="7955280"/>
            <a:ext cx="159791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8CFC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A8AB96E5-FD6C-B541-C3AB-697AD01677C6}"/>
              </a:ext>
            </a:extLst>
          </p:cNvPr>
          <p:cNvSpPr/>
          <p:nvPr/>
        </p:nvSpPr>
        <p:spPr>
          <a:xfrm>
            <a:off x="5717286" y="7955280"/>
            <a:ext cx="14698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🌏 オープン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コードは GitHub で公開され、だれでも改善に参加できます。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99B30E18-5476-0D35-1099-27CC31CC1CA0}"/>
              </a:ext>
            </a:extLst>
          </p:cNvPr>
          <p:cNvSpPr/>
          <p:nvPr/>
        </p:nvSpPr>
        <p:spPr>
          <a:xfrm>
            <a:off x="3854196" y="8686800"/>
            <a:ext cx="3506724" cy="1261872"/>
          </a:xfrm>
          <a:prstGeom prst="roundRect">
            <a:avLst>
              <a:gd name="adj" fmla="val 4348"/>
            </a:avLst>
          </a:prstGeom>
          <a:solidFill>
            <a:srgbClr val="F6F1E9"/>
          </a:solidFill>
          <a:ln/>
          <a:effectLst>
            <a:outerShdw blurRad="63500" dist="19050" dir="5400000" algn="bl" rotWithShape="0">
              <a:srgbClr val="9A92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E7512D76-5422-8046-E8D6-7F5B3A0EA168}"/>
              </a:ext>
            </a:extLst>
          </p:cNvPr>
          <p:cNvSpPr/>
          <p:nvPr/>
        </p:nvSpPr>
        <p:spPr>
          <a:xfrm>
            <a:off x="3963924" y="8778240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619DC305-D503-C68B-3581-088C8970F4E7}"/>
              </a:ext>
            </a:extLst>
          </p:cNvPr>
          <p:cNvSpPr/>
          <p:nvPr/>
        </p:nvSpPr>
        <p:spPr>
          <a:xfrm>
            <a:off x="3963924" y="8769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🔗</a:t>
            </a:r>
            <a:endParaRPr lang="en-US" sz="1300" dirty="0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1E121D95-5B74-544C-8530-0F685F435C2A}"/>
              </a:ext>
            </a:extLst>
          </p:cNvPr>
          <p:cNvSpPr/>
          <p:nvPr/>
        </p:nvSpPr>
        <p:spPr>
          <a:xfrm>
            <a:off x="4347972" y="877824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主な API エンドポイント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9BB4D611-AF8C-92DF-DD35-CC60E81226A4}"/>
              </a:ext>
            </a:extLst>
          </p:cNvPr>
          <p:cNvSpPr/>
          <p:nvPr/>
        </p:nvSpPr>
        <p:spPr>
          <a:xfrm>
            <a:off x="3963924" y="9180576"/>
            <a:ext cx="32872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buNone/>
              <a:tabLst>
                <a:tab pos="1103313" algn="l"/>
              </a:tabLst>
            </a:pPr>
            <a:r>
              <a:rPr lang="en-US" sz="800" b="1" dirty="0">
                <a:solidFill>
                  <a:srgbClr val="33302E"/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/api/schedule/today	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nsolas" panose="020B0609020204030204" pitchFamily="49" charset="0"/>
              </a:rPr>
              <a:t>  ── 今日の営業一覧を返します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  <a:tabLst>
                <a:tab pos="1103313" algn="l"/>
              </a:tabLst>
            </a:pPr>
            <a:r>
              <a:rPr lang="en-US" sz="800" b="1" dirty="0">
                <a:solidFill>
                  <a:srgbClr val="33302E"/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/api/shops	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nsolas" panose="020B0609020204030204" pitchFamily="49" charset="0"/>
              </a:rPr>
              <a:t>  ── 全店舗の情報を返します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  <a:tabLst>
                <a:tab pos="1103313" algn="l"/>
              </a:tabLst>
            </a:pPr>
            <a:r>
              <a:rPr lang="en-US" sz="800" b="1" dirty="0">
                <a:solidFill>
                  <a:srgbClr val="33302E"/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/api/status	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nsolas" panose="020B0609020204030204" pitchFamily="49" charset="0"/>
              </a:rPr>
              <a:t>  ── 更新日時とデータ範囲を返します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  <a:cs typeface="Consolas" panose="020B0609020204030204" pitchFamily="49" charset="0"/>
            </a:endParaRPr>
          </a:p>
        </p:txBody>
      </p:sp>
      <p:sp>
        <p:nvSpPr>
          <p:cNvPr id="96" name="Shape 94">
            <a:extLst>
              <a:ext uri="{FF2B5EF4-FFF2-40B4-BE49-F238E27FC236}">
                <a16:creationId xmlns:a16="http://schemas.microsoft.com/office/drawing/2014/main" id="{2BB8483B-5247-70B3-9C59-5F0AB1FB21C8}"/>
              </a:ext>
            </a:extLst>
          </p:cNvPr>
          <p:cNvSpPr/>
          <p:nvPr/>
        </p:nvSpPr>
        <p:spPr>
          <a:xfrm>
            <a:off x="0" y="10040112"/>
            <a:ext cx="7562088" cy="649224"/>
          </a:xfrm>
          <a:prstGeom prst="rect">
            <a:avLst/>
          </a:prstGeom>
          <a:solidFill>
            <a:srgbClr val="7E332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7" name="Text 95">
            <a:extLst>
              <a:ext uri="{FF2B5EF4-FFF2-40B4-BE49-F238E27FC236}">
                <a16:creationId xmlns:a16="http://schemas.microsoft.com/office/drawing/2014/main" id="{ACF7077B-D7EB-750A-A1B1-24F2626BF0A6}"/>
              </a:ext>
            </a:extLst>
          </p:cNvPr>
          <p:cNvSpPr/>
          <p:nvPr/>
        </p:nvSpPr>
        <p:spPr>
          <a:xfrm>
            <a:off x="237744" y="10040112"/>
            <a:ext cx="54864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📱 ホーム画面に追加すれば、アプリのように使えます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F6DCD4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改善の提案や不具合の報告は github.com/tamadalab/welfare-time へお寄せください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8" name="Shape 96">
            <a:extLst>
              <a:ext uri="{FF2B5EF4-FFF2-40B4-BE49-F238E27FC236}">
                <a16:creationId xmlns:a16="http://schemas.microsoft.com/office/drawing/2014/main" id="{19AF223A-5964-7E79-F84B-038D6026BAE3}"/>
              </a:ext>
            </a:extLst>
          </p:cNvPr>
          <p:cNvSpPr/>
          <p:nvPr/>
        </p:nvSpPr>
        <p:spPr>
          <a:xfrm>
            <a:off x="6784848" y="10094976"/>
            <a:ext cx="54864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99" name="Image 0" descr="qr-site.png">
            <a:extLst>
              <a:ext uri="{FF2B5EF4-FFF2-40B4-BE49-F238E27FC236}">
                <a16:creationId xmlns:a16="http://schemas.microsoft.com/office/drawing/2014/main" id="{02FF17FB-D631-E073-210B-B21C9D884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24" y="10131552"/>
            <a:ext cx="475488" cy="475488"/>
          </a:xfrm>
          <a:prstGeom prst="rect">
            <a:avLst/>
          </a:prstGeom>
        </p:spPr>
      </p:pic>
      <p:sp>
        <p:nvSpPr>
          <p:cNvPr id="100" name="Text 97">
            <a:extLst>
              <a:ext uri="{FF2B5EF4-FFF2-40B4-BE49-F238E27FC236}">
                <a16:creationId xmlns:a16="http://schemas.microsoft.com/office/drawing/2014/main" id="{1ACA1C3A-69B9-6AD7-57E0-A539358CFF04}"/>
              </a:ext>
            </a:extLst>
          </p:cNvPr>
          <p:cNvSpPr/>
          <p:nvPr/>
        </p:nvSpPr>
        <p:spPr>
          <a:xfrm>
            <a:off x="5870448" y="10094976"/>
            <a:ext cx="85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サイトはこちら →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7" name="Shape 24">
            <a:extLst>
              <a:ext uri="{FF2B5EF4-FFF2-40B4-BE49-F238E27FC236}">
                <a16:creationId xmlns:a16="http://schemas.microsoft.com/office/drawing/2014/main" id="{6B2265FB-493E-E341-722A-2DB3C0FE404E}"/>
              </a:ext>
            </a:extLst>
          </p:cNvPr>
          <p:cNvSpPr/>
          <p:nvPr/>
        </p:nvSpPr>
        <p:spPr>
          <a:xfrm>
            <a:off x="201168" y="7862238"/>
            <a:ext cx="3506724" cy="2086434"/>
          </a:xfrm>
          <a:prstGeom prst="roundRect">
            <a:avLst>
              <a:gd name="adj" fmla="val 2525"/>
            </a:avLst>
          </a:prstGeom>
          <a:solidFill>
            <a:srgbClr val="F6F1E9"/>
          </a:solidFill>
          <a:ln/>
          <a:effectLst>
            <a:outerShdw blurRad="63500" dist="19050" dir="5400000" algn="bl" rotWithShape="0">
              <a:srgbClr val="9A92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8" name="Shape 25">
            <a:extLst>
              <a:ext uri="{FF2B5EF4-FFF2-40B4-BE49-F238E27FC236}">
                <a16:creationId xmlns:a16="http://schemas.microsoft.com/office/drawing/2014/main" id="{C01AE739-3326-B3F4-33AB-D9A7FB2FE2CA}"/>
              </a:ext>
            </a:extLst>
          </p:cNvPr>
          <p:cNvSpPr/>
          <p:nvPr/>
        </p:nvSpPr>
        <p:spPr>
          <a:xfrm>
            <a:off x="314912" y="7950850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9" name="Text 26">
            <a:extLst>
              <a:ext uri="{FF2B5EF4-FFF2-40B4-BE49-F238E27FC236}">
                <a16:creationId xmlns:a16="http://schemas.microsoft.com/office/drawing/2014/main" id="{3CF356D5-CCC3-9720-059F-561CCD2594D6}"/>
              </a:ext>
            </a:extLst>
          </p:cNvPr>
          <p:cNvSpPr/>
          <p:nvPr/>
        </p:nvSpPr>
        <p:spPr>
          <a:xfrm>
            <a:off x="314912" y="794170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🤖</a:t>
            </a:r>
            <a:endParaRPr lang="en-US" sz="1300" dirty="0"/>
          </a:p>
        </p:txBody>
      </p:sp>
      <p:sp>
        <p:nvSpPr>
          <p:cNvPr id="110" name="Text 27">
            <a:extLst>
              <a:ext uri="{FF2B5EF4-FFF2-40B4-BE49-F238E27FC236}">
                <a16:creationId xmlns:a16="http://schemas.microsoft.com/office/drawing/2014/main" id="{674967C9-C1BD-B7F3-15AF-E21B5B2FCEA3}"/>
              </a:ext>
            </a:extLst>
          </p:cNvPr>
          <p:cNvSpPr/>
          <p:nvPr/>
        </p:nvSpPr>
        <p:spPr>
          <a:xfrm>
            <a:off x="698960" y="795085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実装</a:t>
            </a:r>
            <a:r>
              <a:rPr lang="en-US" sz="13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 ── Agentic Coding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0FA2BC98-458F-EA29-2E6B-3ED461E18BAE}"/>
              </a:ext>
            </a:extLst>
          </p:cNvPr>
          <p:cNvSpPr txBox="1"/>
          <p:nvPr/>
        </p:nvSpPr>
        <p:spPr>
          <a:xfrm>
            <a:off x="612783" y="5888627"/>
            <a:ext cx="1347892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altLang="ja-JP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② Parse/Scrape ── Python </a:t>
            </a:r>
            <a:r>
              <a:rPr lang="en-US" altLang="ja-JP" sz="800" b="1" dirty="0" err="1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で読み解く</a:t>
            </a:r>
            <a:endParaRPr lang="en-US" altLang="ja-JP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altLang="ja-JP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PDFやHTMLから店名や営業時間を抽出します</a:t>
            </a:r>
            <a:r>
              <a:rPr lang="en-US" altLang="ja-JP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。</a:t>
            </a:r>
            <a:endParaRPr lang="en-US" altLang="ja-JP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3" name="Text 42">
            <a:extLst>
              <a:ext uri="{FF2B5EF4-FFF2-40B4-BE49-F238E27FC236}">
                <a16:creationId xmlns:a16="http://schemas.microsoft.com/office/drawing/2014/main" id="{97D2B24A-8E6F-D8DB-2637-817386135AF8}"/>
              </a:ext>
            </a:extLst>
          </p:cNvPr>
          <p:cNvSpPr/>
          <p:nvPr/>
        </p:nvSpPr>
        <p:spPr>
          <a:xfrm>
            <a:off x="694944" y="6957942"/>
            <a:ext cx="126873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③ Generate ── </a:t>
            </a:r>
            <a:b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</a:br>
            <a:r>
              <a:rPr lang="en-US" sz="800" b="1" dirty="0" err="1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データを統合する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全ソースをまとめてJSON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 ファイル群を生成します。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5" name="Text 47">
            <a:extLst>
              <a:ext uri="{FF2B5EF4-FFF2-40B4-BE49-F238E27FC236}">
                <a16:creationId xmlns:a16="http://schemas.microsoft.com/office/drawing/2014/main" id="{85FACE92-218D-BEC9-A147-17F83B0C56C0}"/>
              </a:ext>
            </a:extLst>
          </p:cNvPr>
          <p:cNvSpPr/>
          <p:nvPr/>
        </p:nvSpPr>
        <p:spPr>
          <a:xfrm>
            <a:off x="2416938" y="5853894"/>
            <a:ext cx="12441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④ 静的 JSON API </a:t>
            </a:r>
            <a:b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</a:br>
            <a:r>
              <a:rPr lang="en-US" sz="800" b="1" dirty="0" err="1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として公開する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JSON </a:t>
            </a: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を置くだけで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、</a:t>
            </a:r>
            <a:b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</a:b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サーバーは計算しません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6" name="Text 52">
            <a:extLst>
              <a:ext uri="{FF2B5EF4-FFF2-40B4-BE49-F238E27FC236}">
                <a16:creationId xmlns:a16="http://schemas.microsoft.com/office/drawing/2014/main" id="{FA814A4F-B105-BA01-55BD-26F86E615401}"/>
              </a:ext>
            </a:extLst>
          </p:cNvPr>
          <p:cNvSpPr/>
          <p:nvPr/>
        </p:nvSpPr>
        <p:spPr>
          <a:xfrm>
            <a:off x="2426701" y="6949440"/>
            <a:ext cx="11934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⑤ Web </a:t>
            </a:r>
            <a:r>
              <a:rPr lang="en-US" sz="800" b="1" dirty="0" err="1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アプリで</a:t>
            </a:r>
            <a:b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</a:br>
            <a:r>
              <a:rPr lang="en-US" sz="800" b="1" dirty="0" err="1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表示する</a:t>
            </a:r>
            <a:b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</a:b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同じAPIからあなたの</a:t>
            </a:r>
            <a:b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</a:b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自作アプリも作れます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！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7" name="Shape 65">
            <a:extLst>
              <a:ext uri="{FF2B5EF4-FFF2-40B4-BE49-F238E27FC236}">
                <a16:creationId xmlns:a16="http://schemas.microsoft.com/office/drawing/2014/main" id="{9B29B8DE-83FF-4DBA-67C5-5785AB81D907}"/>
              </a:ext>
            </a:extLst>
          </p:cNvPr>
          <p:cNvSpPr/>
          <p:nvPr/>
        </p:nvSpPr>
        <p:spPr>
          <a:xfrm>
            <a:off x="320040" y="8447757"/>
            <a:ext cx="274320" cy="274320"/>
          </a:xfrm>
          <a:prstGeom prst="ellipse">
            <a:avLst/>
          </a:prstGeom>
          <a:solidFill>
            <a:srgbClr val="DCE7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8" name="Text 66">
            <a:extLst>
              <a:ext uri="{FF2B5EF4-FFF2-40B4-BE49-F238E27FC236}">
                <a16:creationId xmlns:a16="http://schemas.microsoft.com/office/drawing/2014/main" id="{81D4E53C-1874-99FC-1341-4D8690A4CA24}"/>
              </a:ext>
            </a:extLst>
          </p:cNvPr>
          <p:cNvSpPr/>
          <p:nvPr/>
        </p:nvSpPr>
        <p:spPr>
          <a:xfrm>
            <a:off x="320040" y="84386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📄</a:t>
            </a:r>
          </a:p>
        </p:txBody>
      </p:sp>
      <p:sp>
        <p:nvSpPr>
          <p:cNvPr id="119" name="Text 67">
            <a:extLst>
              <a:ext uri="{FF2B5EF4-FFF2-40B4-BE49-F238E27FC236}">
                <a16:creationId xmlns:a16="http://schemas.microsoft.com/office/drawing/2014/main" id="{620CDAA6-6A0D-3187-CAE3-7393DBC3D882}"/>
              </a:ext>
            </a:extLst>
          </p:cNvPr>
          <p:cNvSpPr/>
          <p:nvPr/>
        </p:nvSpPr>
        <p:spPr>
          <a:xfrm>
            <a:off x="667512" y="8392893"/>
            <a:ext cx="2939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 err="1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プログラムはAIに任せました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人が書いたのは、何を作りたいかを書いた仕様書だけです。仕様書もAIと一緒に作り上げています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0" name="Shape 68">
            <a:extLst>
              <a:ext uri="{FF2B5EF4-FFF2-40B4-BE49-F238E27FC236}">
                <a16:creationId xmlns:a16="http://schemas.microsoft.com/office/drawing/2014/main" id="{80C6C514-C207-3C23-2DEC-BA24AB3C077C}"/>
              </a:ext>
            </a:extLst>
          </p:cNvPr>
          <p:cNvSpPr/>
          <p:nvPr/>
        </p:nvSpPr>
        <p:spPr>
          <a:xfrm>
            <a:off x="320040" y="8950677"/>
            <a:ext cx="274320" cy="274320"/>
          </a:xfrm>
          <a:prstGeom prst="ellipse">
            <a:avLst/>
          </a:prstGeom>
          <a:solidFill>
            <a:srgbClr val="DCE7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1" name="Text 69">
            <a:extLst>
              <a:ext uri="{FF2B5EF4-FFF2-40B4-BE49-F238E27FC236}">
                <a16:creationId xmlns:a16="http://schemas.microsoft.com/office/drawing/2014/main" id="{F77593DC-CE73-2789-049B-E8B34166A152}"/>
              </a:ext>
            </a:extLst>
          </p:cNvPr>
          <p:cNvSpPr/>
          <p:nvPr/>
        </p:nvSpPr>
        <p:spPr>
          <a:xfrm>
            <a:off x="320040" y="894153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😓</a:t>
            </a:r>
          </a:p>
        </p:txBody>
      </p:sp>
      <p:sp>
        <p:nvSpPr>
          <p:cNvPr id="122" name="Text 70">
            <a:extLst>
              <a:ext uri="{FF2B5EF4-FFF2-40B4-BE49-F238E27FC236}">
                <a16:creationId xmlns:a16="http://schemas.microsoft.com/office/drawing/2014/main" id="{655C31D2-9E22-44B4-BB97-28AC535C3FD5}"/>
              </a:ext>
            </a:extLst>
          </p:cNvPr>
          <p:cNvSpPr/>
          <p:nvPr/>
        </p:nvSpPr>
        <p:spPr>
          <a:xfrm>
            <a:off x="667512" y="8895813"/>
            <a:ext cx="2939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 err="1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簡単ではありません</a:t>
            </a: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…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AIにアプリを作らせるには、様々な問題が起こることを想定する必要があります。便利ですが、誰もが容易には使えません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3" name="Shape 71">
            <a:extLst>
              <a:ext uri="{FF2B5EF4-FFF2-40B4-BE49-F238E27FC236}">
                <a16:creationId xmlns:a16="http://schemas.microsoft.com/office/drawing/2014/main" id="{F73A234E-11AE-EEF9-F130-7286E19E8C07}"/>
              </a:ext>
            </a:extLst>
          </p:cNvPr>
          <p:cNvSpPr/>
          <p:nvPr/>
        </p:nvSpPr>
        <p:spPr>
          <a:xfrm>
            <a:off x="320040" y="9453597"/>
            <a:ext cx="274320" cy="274320"/>
          </a:xfrm>
          <a:prstGeom prst="ellipse">
            <a:avLst/>
          </a:prstGeom>
          <a:solidFill>
            <a:srgbClr val="DCE7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4" name="Text 72">
            <a:extLst>
              <a:ext uri="{FF2B5EF4-FFF2-40B4-BE49-F238E27FC236}">
                <a16:creationId xmlns:a16="http://schemas.microsoft.com/office/drawing/2014/main" id="{BC55756C-BC8A-D36D-9ABA-F3A9893ABA37}"/>
              </a:ext>
            </a:extLst>
          </p:cNvPr>
          <p:cNvSpPr/>
          <p:nvPr/>
        </p:nvSpPr>
        <p:spPr>
          <a:xfrm>
            <a:off x="320040" y="94444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♾️</a:t>
            </a:r>
          </a:p>
        </p:txBody>
      </p:sp>
      <p:sp>
        <p:nvSpPr>
          <p:cNvPr id="125" name="Text 73">
            <a:extLst>
              <a:ext uri="{FF2B5EF4-FFF2-40B4-BE49-F238E27FC236}">
                <a16:creationId xmlns:a16="http://schemas.microsoft.com/office/drawing/2014/main" id="{AC7F0642-76B4-029A-77CB-06D99553083C}"/>
              </a:ext>
            </a:extLst>
          </p:cNvPr>
          <p:cNvSpPr/>
          <p:nvPr/>
        </p:nvSpPr>
        <p:spPr>
          <a:xfrm>
            <a:off x="667512" y="9398733"/>
            <a:ext cx="2939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 err="1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動かすことと、動かし続けることは違う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作ったものを動かし続けるための工夫をAIに伝え、その工夫が実践されていることを確認する必要があります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36" name="グラフィックス 135">
            <a:extLst>
              <a:ext uri="{FF2B5EF4-FFF2-40B4-BE49-F238E27FC236}">
                <a16:creationId xmlns:a16="http://schemas.microsoft.com/office/drawing/2014/main" id="{A30708B6-F1A5-04E2-4EA6-9971EDC8D1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1168" y="85176"/>
            <a:ext cx="717592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709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11556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0" y="96429"/>
            <a:ext cx="7562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🍽️ Welfare TIME</a:t>
            </a:r>
            <a:endParaRPr lang="en-US" sz="3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0" y="593529"/>
            <a:ext cx="7562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「今日の学食、どこ開いてる？」に 1秒で答える Web サービス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0" y="859536"/>
            <a:ext cx="7562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6DCD4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Welfare Time &amp; Information for Modern Education ── 京都産業大学の食堂・コンビニ・キッチンカー営業情報ナビ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01168" y="1225296"/>
            <a:ext cx="3506724" cy="1627632"/>
          </a:xfrm>
          <a:prstGeom prst="roundRect">
            <a:avLst>
              <a:gd name="adj" fmla="val 3371"/>
            </a:avLst>
          </a:prstGeom>
          <a:solidFill>
            <a:srgbClr val="F6F1E9"/>
          </a:solidFill>
          <a:ln/>
          <a:effectLst>
            <a:outerShdw blurRad="63500" dist="19050" dir="5400000" algn="bl" rotWithShape="0">
              <a:srgbClr val="9A92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10896" y="1316736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10896" y="1307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🍽️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4944" y="1316736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3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Welfare TIME とは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1700784"/>
            <a:ext cx="3287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京都産業大学の食堂・コンビニ・ショップ・キッチンカーの</a:t>
            </a:r>
            <a:r>
              <a:rPr lang="en-US" sz="8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「今日の営業情報」</a:t>
            </a: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を 1 ページに集約した Web サービスです。毎朝 8 時ごろに自動更新され、現在時刻に合わせて営業状況を判定します。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0896" y="2286000"/>
            <a:ext cx="1059180" cy="457200"/>
          </a:xfrm>
          <a:prstGeom prst="roundRect">
            <a:avLst>
              <a:gd name="adj" fmla="val 10000"/>
            </a:avLst>
          </a:prstGeom>
          <a:solidFill>
            <a:srgbClr val="E3F0E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338328" y="2319252"/>
            <a:ext cx="100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2E6B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🟢 営業中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いま開いています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424940" y="2286000"/>
            <a:ext cx="1059180" cy="457200"/>
          </a:xfrm>
          <a:prstGeom prst="roundRect">
            <a:avLst>
              <a:gd name="adj" fmla="val 10000"/>
            </a:avLst>
          </a:prstGeom>
          <a:solidFill>
            <a:srgbClr val="FCF3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452372" y="2319252"/>
            <a:ext cx="100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8A6A12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🟡 準備中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開店前や未来の</a:t>
            </a:r>
            <a:b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</a:b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日付です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538984" y="2286000"/>
            <a:ext cx="1059180" cy="457200"/>
          </a:xfrm>
          <a:prstGeom prst="roundRect">
            <a:avLst>
              <a:gd name="adj" fmla="val 10000"/>
            </a:avLst>
          </a:prstGeom>
          <a:solidFill>
            <a:srgbClr val="E1EA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566416" y="2319252"/>
            <a:ext cx="100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2F5386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🔵 営業終了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今日の営業は</a:t>
            </a:r>
            <a:b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</a:b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終わりました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01168" y="2926080"/>
            <a:ext cx="3506724" cy="1261872"/>
          </a:xfrm>
          <a:prstGeom prst="roundRect">
            <a:avLst>
              <a:gd name="adj" fmla="val 4348"/>
            </a:avLst>
          </a:prstGeom>
          <a:solidFill>
            <a:srgbClr val="F6F1E9"/>
          </a:solidFill>
          <a:ln/>
          <a:effectLst>
            <a:outerShdw blurRad="63500" dist="19050" dir="5400000" algn="bl" rotWithShape="0">
              <a:srgbClr val="9A92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10896" y="3017520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310896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😵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" y="301752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きっかけ ── 情報がバラバラ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10896" y="3401568"/>
            <a:ext cx="1517904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8CFC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374904" y="3401568"/>
            <a:ext cx="1389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📄 学食の予定は PDF、🚚 キッチンカーは別サイトにあります。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毎日チェックするのは大変です…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883664" y="3648456"/>
            <a:ext cx="237744" cy="182880"/>
          </a:xfrm>
          <a:prstGeom prst="rightArrow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2194560" y="3401568"/>
            <a:ext cx="1399032" cy="676656"/>
          </a:xfrm>
          <a:prstGeom prst="roundRect">
            <a:avLst>
              <a:gd name="adj" fmla="val 6757"/>
            </a:avLst>
          </a:prstGeom>
          <a:solidFill>
            <a:srgbClr val="DCE7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2258568" y="3401568"/>
            <a:ext cx="13121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✨ Welfare TIME </a:t>
            </a:r>
            <a:r>
              <a:rPr lang="en-US" sz="800" b="1" dirty="0" err="1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が集めてひとつの画面と</a:t>
            </a: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 API に統合します。</a:t>
            </a: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見る場所は、ここだけです。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01168" y="4261104"/>
            <a:ext cx="3506724" cy="5687568"/>
          </a:xfrm>
          <a:prstGeom prst="roundRect">
            <a:avLst>
              <a:gd name="adj" fmla="val 1565"/>
            </a:avLst>
          </a:prstGeom>
          <a:solidFill>
            <a:srgbClr val="F6F1E9"/>
          </a:solidFill>
          <a:ln/>
          <a:effectLst>
            <a:outerShdw blurRad="63500" dist="19050" dir="5400000" algn="bl" rotWithShape="0">
              <a:srgbClr val="9A92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310896" y="4352544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310896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944" y="4352544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しくみ ── データパイプライン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10896" y="4700016"/>
            <a:ext cx="32872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毎朝、人の手をいっさい借りずに、この流れが全自動で動きます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10896" y="4901184"/>
            <a:ext cx="1591056" cy="548640"/>
          </a:xfrm>
          <a:prstGeom prst="roundRect">
            <a:avLst>
              <a:gd name="adj" fmla="val 8333"/>
            </a:avLst>
          </a:prstGeom>
          <a:solidFill>
            <a:srgbClr val="DCE7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365760" y="4901184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📄 大学公式サイト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営業時間の PDF があります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975104" y="4901184"/>
            <a:ext cx="1618488" cy="548640"/>
          </a:xfrm>
          <a:prstGeom prst="roundRect">
            <a:avLst>
              <a:gd name="adj" fmla="val 8333"/>
            </a:avLst>
          </a:prstGeom>
          <a:solidFill>
            <a:srgbClr val="DCE7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2029968" y="490118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🚚 キッチンカー情報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出店予定が Mellow にあります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872234" y="5504688"/>
            <a:ext cx="164592" cy="274320"/>
          </a:xfrm>
          <a:prstGeom prst="downArrow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2082546" y="5504688"/>
            <a:ext cx="1515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F8272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① Fetch ── 自動で取得します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10896" y="5833872"/>
            <a:ext cx="328726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C9D5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347472" y="5833872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🐍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77240" y="5833872"/>
            <a:ext cx="27386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② Parse / Scrape ── Python で読み解く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PDF や HTML から店名や営業時間を抽出します。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872234" y="6601968"/>
            <a:ext cx="164592" cy="274320"/>
          </a:xfrm>
          <a:prstGeom prst="downArrow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2082546" y="6601968"/>
            <a:ext cx="1515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F8272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表記ゆれを正規化します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10896" y="6931152"/>
            <a:ext cx="328726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C9D5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347472" y="6931152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🧩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77240" y="6931152"/>
            <a:ext cx="27386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③ Generate ── データを統合する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全ソースをまとめて JSON ファイル群を生成します。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872234" y="7699248"/>
            <a:ext cx="164592" cy="274320"/>
          </a:xfrm>
          <a:prstGeom prst="downArrow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2082546" y="7699248"/>
            <a:ext cx="1515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F8272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できたファイルを置くだけです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10896" y="8028432"/>
            <a:ext cx="3287268" cy="713232"/>
          </a:xfrm>
          <a:prstGeom prst="roundRect">
            <a:avLst>
              <a:gd name="adj" fmla="val 6410"/>
            </a:avLst>
          </a:prstGeom>
          <a:solidFill>
            <a:srgbClr val="FBEAE5"/>
          </a:solidFill>
          <a:ln w="9525">
            <a:solidFill>
              <a:srgbClr val="C9D5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347472" y="8028432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📦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77240" y="8028432"/>
            <a:ext cx="27386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④ 静的 JSON API として公開する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JSON を置くだけで、サーバーは計算しません。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872234" y="8796528"/>
            <a:ext cx="164592" cy="274320"/>
          </a:xfrm>
          <a:prstGeom prst="downArrow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2082546" y="8796528"/>
            <a:ext cx="1515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F8272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だれでも GET できます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310896" y="9125712"/>
            <a:ext cx="3287268" cy="713232"/>
          </a:xfrm>
          <a:prstGeom prst="roundRect">
            <a:avLst>
              <a:gd name="adj" fmla="val 6410"/>
            </a:avLst>
          </a:prstGeom>
          <a:solidFill>
            <a:srgbClr val="FBEAE5"/>
          </a:solidFill>
          <a:ln w="9525">
            <a:solidFill>
              <a:srgbClr val="C9D5C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347472" y="9125712"/>
            <a:ext cx="384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🌐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77240" y="9125712"/>
            <a:ext cx="27386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⑤ Web アプリで表示する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同じ API から、あなたの自作アプリだって作れます！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3854196" y="1225296"/>
            <a:ext cx="3506724" cy="2944368"/>
          </a:xfrm>
          <a:prstGeom prst="roundRect">
            <a:avLst>
              <a:gd name="adj" fmla="val 1863"/>
            </a:avLst>
          </a:prstGeom>
          <a:solidFill>
            <a:srgbClr val="F6F1E9"/>
          </a:solidFill>
          <a:ln/>
          <a:effectLst>
            <a:outerShdw blurRad="63500" dist="19050" dir="5400000" algn="bl" rotWithShape="0">
              <a:srgbClr val="9A92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/>
          <p:cNvSpPr/>
          <p:nvPr/>
        </p:nvSpPr>
        <p:spPr>
          <a:xfrm>
            <a:off x="3963924" y="1316736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3963924" y="1307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💻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4347972" y="1316736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33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REST API ってなに？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3963924" y="1700784"/>
            <a:ext cx="32872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API</a:t>
            </a: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 とは「プログラム同士が話すための窓口」です。その中でも </a:t>
            </a:r>
            <a:r>
              <a:rPr lang="en-US" sz="8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REST</a:t>
            </a: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 は、Web ページを見るときと同じしくみ（HTTP）をそのまま使う設計スタイルです。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・URL が「もの」を表します（</a:t>
            </a:r>
            <a:r>
              <a:rPr lang="en-US" sz="800" dirty="0">
                <a:solidFill>
                  <a:srgbClr val="33302E"/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/api/shops</a:t>
            </a: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 なら店舗一覧）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・GET などの決まった動詞でお願いします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・返事はどの言語からも読める JSON 形式を採用しています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3963924" y="2651760"/>
            <a:ext cx="3287268" cy="1188720"/>
          </a:xfrm>
          <a:prstGeom prst="roundRect">
            <a:avLst>
              <a:gd name="adj" fmla="val 3846"/>
            </a:avLst>
          </a:prstGeom>
          <a:solidFill>
            <a:srgbClr val="2B292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4073652" y="2706624"/>
            <a:ext cx="30678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FD3A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GET https://tamadalab.github.io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8FD3A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      /welfare-time/api/schedule/today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DE8E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{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DE8E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"date": "2026-05-18",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DE8E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"cafeterias": [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DE8E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  { "name": "食堂",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DE8E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      "business_hours": "11:00～14:00" } ], …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DE8E0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}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3963924" y="3895344"/>
            <a:ext cx="32872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F8272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👆 ブラウザでこの URL を開くだけで、実際に結果を見られます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3854196" y="4242816"/>
            <a:ext cx="3506724" cy="2542032"/>
          </a:xfrm>
          <a:prstGeom prst="roundRect">
            <a:avLst>
              <a:gd name="adj" fmla="val 2158"/>
            </a:avLst>
          </a:prstGeom>
          <a:solidFill>
            <a:srgbClr val="F6F1E9"/>
          </a:solidFill>
          <a:ln/>
          <a:effectLst>
            <a:outerShdw blurRad="63500" dist="19050" dir="5400000" algn="bl" rotWithShape="0">
              <a:srgbClr val="9A92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4" name="Shape 62"/>
          <p:cNvSpPr/>
          <p:nvPr/>
        </p:nvSpPr>
        <p:spPr>
          <a:xfrm>
            <a:off x="3963924" y="4334256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3963924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🤔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4347972" y="4334256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なぜ REST にしたの？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3963924" y="4773168"/>
            <a:ext cx="274320" cy="274320"/>
          </a:xfrm>
          <a:prstGeom prst="ellipse">
            <a:avLst/>
          </a:prstGeom>
          <a:solidFill>
            <a:srgbClr val="DCE7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8" name="Text 66"/>
          <p:cNvSpPr/>
          <p:nvPr/>
        </p:nvSpPr>
        <p:spPr>
          <a:xfrm>
            <a:off x="3963924" y="4764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🔎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4311396" y="4718304"/>
            <a:ext cx="2939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URL を見れば意味がわかる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/api/schedule/tomorrow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 は「明日の予定」を表します。仕様書がなくても直感で使えます。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3963924" y="5276088"/>
            <a:ext cx="274320" cy="274320"/>
          </a:xfrm>
          <a:prstGeom prst="ellipse">
            <a:avLst/>
          </a:prstGeom>
          <a:solidFill>
            <a:srgbClr val="DCE7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Text 69"/>
          <p:cNvSpPr/>
          <p:nvPr/>
        </p:nvSpPr>
        <p:spPr>
          <a:xfrm>
            <a:off x="3963924" y="5266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🧪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4311396" y="5221224"/>
            <a:ext cx="2939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ブラウザだけで試せる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特別な道具は要りません。URL をアドレスバーに打てば、その場で動作確認できます。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3963924" y="5779008"/>
            <a:ext cx="274320" cy="274320"/>
          </a:xfrm>
          <a:prstGeom prst="ellipse">
            <a:avLst/>
          </a:prstGeom>
          <a:solidFill>
            <a:srgbClr val="DCE7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4" name="Text 72"/>
          <p:cNvSpPr/>
          <p:nvPr/>
        </p:nvSpPr>
        <p:spPr>
          <a:xfrm>
            <a:off x="3963924" y="5769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🧩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4311396" y="5724144"/>
            <a:ext cx="2939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データと見た目を分けられる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同じ API から、Web でもスマホアプリでもボットでも、自由に作れます。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3963924" y="6281928"/>
            <a:ext cx="274320" cy="274320"/>
          </a:xfrm>
          <a:prstGeom prst="ellipse">
            <a:avLst/>
          </a:prstGeom>
          <a:solidFill>
            <a:srgbClr val="DCE7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7" name="Text 75"/>
          <p:cNvSpPr/>
          <p:nvPr/>
        </p:nvSpPr>
        <p:spPr>
          <a:xfrm>
            <a:off x="3963924" y="6272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🪶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4311396" y="6227064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302E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静的ファイルと相性が抜群です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作った JSON を置くだけで REST </a:t>
            </a: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になります。速くて、タダで、壊れにくいのです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3854196" y="6858000"/>
            <a:ext cx="3506724" cy="1755648"/>
          </a:xfrm>
          <a:prstGeom prst="roundRect">
            <a:avLst>
              <a:gd name="adj" fmla="val 3125"/>
            </a:avLst>
          </a:prstGeom>
          <a:solidFill>
            <a:srgbClr val="F6F1E9"/>
          </a:solidFill>
          <a:ln/>
          <a:effectLst>
            <a:outerShdw blurRad="63500" dist="19050" dir="5400000" algn="bl" rotWithShape="0">
              <a:srgbClr val="9A92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0" name="Shape 78"/>
          <p:cNvSpPr/>
          <p:nvPr/>
        </p:nvSpPr>
        <p:spPr>
          <a:xfrm>
            <a:off x="3963924" y="6949440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1" name="Text 79"/>
          <p:cNvSpPr/>
          <p:nvPr/>
        </p:nvSpPr>
        <p:spPr>
          <a:xfrm>
            <a:off x="3963924" y="6940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🧠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4347972" y="694944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設計の思想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3963924" y="7333488"/>
            <a:ext cx="159791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8CFC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4" name="Text 82"/>
          <p:cNvSpPr/>
          <p:nvPr/>
        </p:nvSpPr>
        <p:spPr>
          <a:xfrm>
            <a:off x="4027932" y="7333488"/>
            <a:ext cx="14698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⚡ サーバーレス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重い計算は毎朝 1 回だけです。あとは JSON を配るだけです。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5653278" y="7333488"/>
            <a:ext cx="159791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8CFC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6" name="Text 84"/>
          <p:cNvSpPr/>
          <p:nvPr/>
        </p:nvSpPr>
        <p:spPr>
          <a:xfrm>
            <a:off x="5717286" y="7333488"/>
            <a:ext cx="14698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🤖 全自動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収集から公開まで CI が毎朝実行します。人は何もしません。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3963924" y="7955280"/>
            <a:ext cx="159791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8CFC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8" name="Text 86"/>
          <p:cNvSpPr/>
          <p:nvPr/>
        </p:nvSpPr>
        <p:spPr>
          <a:xfrm>
            <a:off x="4027932" y="7955280"/>
            <a:ext cx="13510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📏 正規化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 err="1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表記ゆれを共通ルールで統一し、品質を守っています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5653278" y="7955280"/>
            <a:ext cx="159791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8CFC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0" name="Text 88"/>
          <p:cNvSpPr/>
          <p:nvPr/>
        </p:nvSpPr>
        <p:spPr>
          <a:xfrm>
            <a:off x="5717286" y="7955280"/>
            <a:ext cx="14698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🌏 オープン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コードは GitHub で公開され、だれでも改善に参加できます。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3854196" y="8686800"/>
            <a:ext cx="3506724" cy="1261872"/>
          </a:xfrm>
          <a:prstGeom prst="roundRect">
            <a:avLst>
              <a:gd name="adj" fmla="val 4348"/>
            </a:avLst>
          </a:prstGeom>
          <a:solidFill>
            <a:srgbClr val="F6F1E9"/>
          </a:solidFill>
          <a:ln/>
          <a:effectLst>
            <a:outerShdw blurRad="63500" dist="19050" dir="5400000" algn="bl" rotWithShape="0">
              <a:srgbClr val="9A9288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2" name="Shape 90"/>
          <p:cNvSpPr/>
          <p:nvPr/>
        </p:nvSpPr>
        <p:spPr>
          <a:xfrm>
            <a:off x="3963924" y="8778240"/>
            <a:ext cx="310896" cy="3108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3" name="Text 91"/>
          <p:cNvSpPr/>
          <p:nvPr/>
        </p:nvSpPr>
        <p:spPr>
          <a:xfrm>
            <a:off x="3963924" y="8769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🔗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4347972" y="877824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3328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主な API エンドポイント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3963924" y="9180576"/>
            <a:ext cx="32872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buNone/>
              <a:tabLst>
                <a:tab pos="1103313" algn="l"/>
              </a:tabLst>
            </a:pPr>
            <a:r>
              <a:rPr lang="en-US" sz="800" b="1" dirty="0">
                <a:solidFill>
                  <a:srgbClr val="33302E"/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/api/schedule/today	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nsolas" panose="020B0609020204030204" pitchFamily="49" charset="0"/>
              </a:rPr>
              <a:t>  ── 今日の営業一覧を返します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  <a:tabLst>
                <a:tab pos="1103313" algn="l"/>
              </a:tabLst>
            </a:pPr>
            <a:r>
              <a:rPr lang="en-US" sz="800" b="1" dirty="0">
                <a:solidFill>
                  <a:srgbClr val="33302E"/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/api/shops	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nsolas" panose="020B0609020204030204" pitchFamily="49" charset="0"/>
              </a:rPr>
              <a:t>  ── 全店舗の情報を返します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  <a:tabLst>
                <a:tab pos="1103313" algn="l"/>
              </a:tabLst>
            </a:pPr>
            <a:r>
              <a:rPr lang="en-US" sz="800" b="1" dirty="0">
                <a:solidFill>
                  <a:srgbClr val="33302E"/>
                </a:solidFill>
                <a:latin typeface="Consolas" panose="020B0609020204030204" pitchFamily="49" charset="0"/>
                <a:ea typeface="Meiryo" panose="020B0604030504040204" pitchFamily="34" charset="-128"/>
                <a:cs typeface="Consolas" panose="020B0609020204030204" pitchFamily="49" charset="0"/>
              </a:rPr>
              <a:t>/api/status	</a:t>
            </a:r>
            <a:r>
              <a:rPr lang="en-US" sz="800" dirty="0">
                <a:solidFill>
                  <a:srgbClr val="6B655F"/>
                </a:solidFill>
                <a:latin typeface="Meiryo" panose="020B0604030504040204" pitchFamily="34" charset="-128"/>
                <a:ea typeface="Meiryo" panose="020B0604030504040204" pitchFamily="34" charset="-128"/>
                <a:cs typeface="Consolas" panose="020B0609020204030204" pitchFamily="49" charset="0"/>
              </a:rPr>
              <a:t>  ── 更新日時とデータ範囲を返します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  <a:cs typeface="Consolas" panose="020B0609020204030204" pitchFamily="49" charset="0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0" y="10040112"/>
            <a:ext cx="7562088" cy="649224"/>
          </a:xfrm>
          <a:prstGeom prst="rect">
            <a:avLst/>
          </a:prstGeom>
          <a:solidFill>
            <a:srgbClr val="7E332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7" name="Text 95"/>
          <p:cNvSpPr/>
          <p:nvPr/>
        </p:nvSpPr>
        <p:spPr>
          <a:xfrm>
            <a:off x="237744" y="10040112"/>
            <a:ext cx="54864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📱 ホーム画面に追加すれば、アプリのように使えます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F6DCD4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改善の提案や不具合の報告は github.com/tamadalab/welfare-time へお寄せください</a:t>
            </a:r>
            <a:endParaRPr lang="en-US" sz="13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6784848" y="10094976"/>
            <a:ext cx="54864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99" name="Image 0" descr="qr-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24" y="10131552"/>
            <a:ext cx="475488" cy="475488"/>
          </a:xfrm>
          <a:prstGeom prst="rect">
            <a:avLst/>
          </a:prstGeom>
        </p:spPr>
      </p:pic>
      <p:sp>
        <p:nvSpPr>
          <p:cNvPr id="100" name="Text 97"/>
          <p:cNvSpPr/>
          <p:nvPr/>
        </p:nvSpPr>
        <p:spPr>
          <a:xfrm>
            <a:off x="5870448" y="10094976"/>
            <a:ext cx="85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サイトはこちら →</a:t>
            </a:r>
            <a:endParaRPr lang="en-US" sz="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1422</Words>
  <Application>Microsoft Macintosh PowerPoint</Application>
  <PresentationFormat>ユーザー設定</PresentationFormat>
  <Paragraphs>280</Paragraphs>
  <Slides>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Meiryo</vt:lpstr>
      <vt:lpstr>Yu Gothic</vt:lpstr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TAMADA HARUAKI</cp:lastModifiedBy>
  <cp:revision>21</cp:revision>
  <dcterms:created xsi:type="dcterms:W3CDTF">2026-07-19T02:23:18Z</dcterms:created>
  <dcterms:modified xsi:type="dcterms:W3CDTF">2026-07-30T03:31:40Z</dcterms:modified>
</cp:coreProperties>
</file>